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1" r:id="rId2"/>
    <p:sldId id="257" r:id="rId3"/>
    <p:sldId id="266" r:id="rId4"/>
    <p:sldId id="258" r:id="rId5"/>
    <p:sldId id="296" r:id="rId6"/>
    <p:sldId id="297" r:id="rId7"/>
    <p:sldId id="267" r:id="rId8"/>
    <p:sldId id="259" r:id="rId9"/>
    <p:sldId id="260" r:id="rId10"/>
    <p:sldId id="261" r:id="rId11"/>
    <p:sldId id="268" r:id="rId12"/>
    <p:sldId id="269" r:id="rId13"/>
    <p:sldId id="263" r:id="rId14"/>
    <p:sldId id="274" r:id="rId15"/>
    <p:sldId id="275" r:id="rId16"/>
    <p:sldId id="295" r:id="rId17"/>
    <p:sldId id="294" r:id="rId18"/>
    <p:sldId id="276" r:id="rId19"/>
    <p:sldId id="270" r:id="rId20"/>
    <p:sldId id="277" r:id="rId21"/>
    <p:sldId id="278" r:id="rId22"/>
    <p:sldId id="264" r:id="rId23"/>
    <p:sldId id="265" r:id="rId24"/>
    <p:sldId id="272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93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806C95-40E8-4923-8454-E2CFA55072D3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MA"/>
        </a:p>
      </dgm:t>
    </dgm:pt>
    <dgm:pt modelId="{6C4DDBE5-ABFE-4A12-A808-0129C585F31F}">
      <dgm:prSet phldrT="[Texte]" phldr="0" custT="1"/>
      <dgm:spPr/>
      <dgm:t>
        <a:bodyPr/>
        <a:lstStyle/>
        <a:p>
          <a:r>
            <a:rPr lang="en-US" sz="1500" b="0" i="0" u="none" strike="noStrike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💰</a:t>
          </a:r>
          <a:r>
            <a:rPr lang="fr-MA" sz="1500" dirty="0"/>
            <a:t>Avantages Économiques</a:t>
          </a:r>
        </a:p>
      </dgm:t>
    </dgm:pt>
    <dgm:pt modelId="{E2FEC078-ED51-465C-9AF7-771E42428FB5}" type="parTrans" cxnId="{2EC06953-3C83-4FE3-A2A1-75EB2A98736D}">
      <dgm:prSet/>
      <dgm:spPr/>
      <dgm:t>
        <a:bodyPr/>
        <a:lstStyle/>
        <a:p>
          <a:endParaRPr lang="fr-MA" sz="1500"/>
        </a:p>
      </dgm:t>
    </dgm:pt>
    <dgm:pt modelId="{8AF1C7DC-965E-4F48-8745-328122B460AF}" type="sibTrans" cxnId="{2EC06953-3C83-4FE3-A2A1-75EB2A98736D}">
      <dgm:prSet/>
      <dgm:spPr/>
      <dgm:t>
        <a:bodyPr/>
        <a:lstStyle/>
        <a:p>
          <a:endParaRPr lang="fr-MA" sz="1500"/>
        </a:p>
      </dgm:t>
    </dgm:pt>
    <dgm:pt modelId="{C10AEF60-7D56-4965-AE3E-505E4BB3C921}">
      <dgm:prSet phldrT="[Texte]"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Réduction des coûts de collecte jusqu'à 30%</a:t>
          </a:r>
          <a:endParaRPr lang="fr-MA" sz="1500" dirty="0"/>
        </a:p>
      </dgm:t>
    </dgm:pt>
    <dgm:pt modelId="{D1DB2568-61ED-4791-9BAB-0AEAB99BFD2C}" type="parTrans" cxnId="{6197D675-F3E6-47BA-8A5C-E8EB8DC6C9AC}">
      <dgm:prSet/>
      <dgm:spPr/>
      <dgm:t>
        <a:bodyPr/>
        <a:lstStyle/>
        <a:p>
          <a:endParaRPr lang="fr-MA" sz="1500"/>
        </a:p>
      </dgm:t>
    </dgm:pt>
    <dgm:pt modelId="{4412BDE9-E772-4098-8C4F-6918F068EE01}" type="sibTrans" cxnId="{6197D675-F3E6-47BA-8A5C-E8EB8DC6C9AC}">
      <dgm:prSet/>
      <dgm:spPr/>
      <dgm:t>
        <a:bodyPr/>
        <a:lstStyle/>
        <a:p>
          <a:endParaRPr lang="fr-MA" sz="1500"/>
        </a:p>
      </dgm:t>
    </dgm:pt>
    <dgm:pt modelId="{B01466A0-4909-48A1-A9D9-391155DDF1EE}">
      <dgm:prSet phldrT="[Texte]" custT="1"/>
      <dgm:spPr/>
      <dgm:t>
        <a:bodyPr/>
        <a:lstStyle/>
        <a:p>
          <a:r>
            <a:rPr lang="en-US" sz="1500" b="0" i="0" u="none" strike="noStrike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⚙️</a:t>
          </a:r>
          <a:r>
            <a:rPr lang="fr-MA" sz="1500" dirty="0"/>
            <a:t>Avantages Opérationnels</a:t>
          </a:r>
        </a:p>
      </dgm:t>
    </dgm:pt>
    <dgm:pt modelId="{42EB171B-D31E-41F0-9E9E-F6B67F566179}" type="parTrans" cxnId="{BA8E6F09-D60D-4A21-9630-004771D8E761}">
      <dgm:prSet/>
      <dgm:spPr/>
      <dgm:t>
        <a:bodyPr/>
        <a:lstStyle/>
        <a:p>
          <a:endParaRPr lang="fr-MA" sz="1500"/>
        </a:p>
      </dgm:t>
    </dgm:pt>
    <dgm:pt modelId="{A2E38748-3FF6-4E22-A22C-5CD76AA97507}" type="sibTrans" cxnId="{BA8E6F09-D60D-4A21-9630-004771D8E761}">
      <dgm:prSet/>
      <dgm:spPr/>
      <dgm:t>
        <a:bodyPr/>
        <a:lstStyle/>
        <a:p>
          <a:endParaRPr lang="fr-MA" sz="1500"/>
        </a:p>
      </dgm:t>
    </dgm:pt>
    <dgm:pt modelId="{8420202E-69FF-4A52-A450-68516AF27AE9}">
      <dgm:prSet phldrT="[Texte]"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Supervision temps réel depuis un tableau de bord</a:t>
          </a:r>
          <a:endParaRPr lang="fr-MA" sz="1500" dirty="0"/>
        </a:p>
      </dgm:t>
    </dgm:pt>
    <dgm:pt modelId="{5442C41B-341D-4B6D-8932-7ABE4B96703D}" type="parTrans" cxnId="{CBE785D4-3D96-4180-B90A-A01677F29F73}">
      <dgm:prSet/>
      <dgm:spPr/>
      <dgm:t>
        <a:bodyPr/>
        <a:lstStyle/>
        <a:p>
          <a:endParaRPr lang="fr-MA" sz="1500"/>
        </a:p>
      </dgm:t>
    </dgm:pt>
    <dgm:pt modelId="{B14A8790-8095-421F-93CE-4EA02E823AD4}" type="sibTrans" cxnId="{CBE785D4-3D96-4180-B90A-A01677F29F73}">
      <dgm:prSet/>
      <dgm:spPr/>
      <dgm:t>
        <a:bodyPr/>
        <a:lstStyle/>
        <a:p>
          <a:endParaRPr lang="fr-MA" sz="1500"/>
        </a:p>
      </dgm:t>
    </dgm:pt>
    <dgm:pt modelId="{D1DD0595-A1C2-4DA4-9ADE-0E65DBC1AA90}">
      <dgm:prSet phldrT="[Texte]" custT="1"/>
      <dgm:spPr/>
      <dgm:t>
        <a:bodyPr/>
        <a:lstStyle/>
        <a:p>
          <a:r>
            <a:rPr lang="en-US" sz="1500" b="0" i="0" u="none" strike="noStrike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🔧</a:t>
          </a:r>
          <a:r>
            <a:rPr lang="fr-MA" sz="1500" b="0" i="0" u="none" strike="noStrike" cap="none" dirty="0">
              <a:solidFill>
                <a:srgbClr val="0A2342"/>
              </a:solidFill>
              <a:latin typeface="Plus Jakarta Sans"/>
              <a:cs typeface="Plus Jakarta Sans"/>
              <a:sym typeface="Plus Jakarta Sans"/>
            </a:rPr>
            <a:t>Avantages Technologiques</a:t>
          </a:r>
          <a:endParaRPr lang="fr-MA" sz="1500" dirty="0"/>
        </a:p>
      </dgm:t>
    </dgm:pt>
    <dgm:pt modelId="{BFF33FCE-F8E0-4CE6-8968-0C77781E8E8F}" type="parTrans" cxnId="{7D78F771-5AC1-44EE-B78F-F2A767DB6B1C}">
      <dgm:prSet/>
      <dgm:spPr/>
      <dgm:t>
        <a:bodyPr/>
        <a:lstStyle/>
        <a:p>
          <a:endParaRPr lang="fr-MA" sz="1500"/>
        </a:p>
      </dgm:t>
    </dgm:pt>
    <dgm:pt modelId="{928BB4FC-BB0A-4022-BA91-715E9A606897}" type="sibTrans" cxnId="{7D78F771-5AC1-44EE-B78F-F2A767DB6B1C}">
      <dgm:prSet/>
      <dgm:spPr/>
      <dgm:t>
        <a:bodyPr/>
        <a:lstStyle/>
        <a:p>
          <a:endParaRPr lang="fr-MA" sz="1500"/>
        </a:p>
      </dgm:t>
    </dgm:pt>
    <dgm:pt modelId="{AC22C8E3-40B3-48D0-AA2C-2FD2AD6E3C90}">
      <dgm:prSet phldrT="[Texte]" phldr="0" custT="1"/>
      <dgm:spPr/>
      <dgm:t>
        <a:bodyPr/>
        <a:lstStyle/>
        <a:p>
          <a:pPr>
            <a:lnSpc>
              <a:spcPct val="100000"/>
            </a:lnSpc>
          </a:pPr>
          <a:r>
            <a:rPr lang="fr-MA" sz="1500" dirty="0"/>
            <a:t>Architecture modulaire et extensible</a:t>
          </a:r>
        </a:p>
      </dgm:t>
    </dgm:pt>
    <dgm:pt modelId="{10FCEDF6-5565-44C2-BA49-E135AE40182D}" type="parTrans" cxnId="{F5E20FE7-5DAF-4183-9311-17DDE82EF560}">
      <dgm:prSet/>
      <dgm:spPr/>
      <dgm:t>
        <a:bodyPr/>
        <a:lstStyle/>
        <a:p>
          <a:endParaRPr lang="fr-MA" sz="1500"/>
        </a:p>
      </dgm:t>
    </dgm:pt>
    <dgm:pt modelId="{1D57605C-3EE1-4BB6-A9E4-20E9CFE8CABF}" type="sibTrans" cxnId="{F5E20FE7-5DAF-4183-9311-17DDE82EF560}">
      <dgm:prSet/>
      <dgm:spPr/>
      <dgm:t>
        <a:bodyPr/>
        <a:lstStyle/>
        <a:p>
          <a:endParaRPr lang="fr-MA" sz="1500"/>
        </a:p>
      </dgm:t>
    </dgm:pt>
    <dgm:pt modelId="{971BDA89-9DF7-4B30-9A9E-AE9D712187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Collecte uniquement si poubelle pleine</a:t>
          </a:r>
          <a:endParaRPr lang="fr-MA" sz="1500" dirty="0"/>
        </a:p>
      </dgm:t>
    </dgm:pt>
    <dgm:pt modelId="{E31C470A-E01B-4421-806E-A89E7FC7D06A}" type="parTrans" cxnId="{67749694-A44B-49BF-8FA2-E84B37DAC637}">
      <dgm:prSet/>
      <dgm:spPr/>
      <dgm:t>
        <a:bodyPr/>
        <a:lstStyle/>
        <a:p>
          <a:endParaRPr lang="fr-MA" sz="1500"/>
        </a:p>
      </dgm:t>
    </dgm:pt>
    <dgm:pt modelId="{3D90703B-A53C-49FF-B630-6B32F5E51634}" type="sibTrans" cxnId="{67749694-A44B-49BF-8FA2-E84B37DAC637}">
      <dgm:prSet/>
      <dgm:spPr/>
      <dgm:t>
        <a:bodyPr/>
        <a:lstStyle/>
        <a:p>
          <a:endParaRPr lang="fr-MA" sz="1500"/>
        </a:p>
      </dgm:t>
    </dgm:pt>
    <dgm:pt modelId="{28B91869-EBDD-498D-9EFA-E12CDB5C30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Batterie capteur : durée de vie 10 ans</a:t>
          </a:r>
          <a:endParaRPr lang="fr-MA" sz="1500" dirty="0"/>
        </a:p>
      </dgm:t>
    </dgm:pt>
    <dgm:pt modelId="{7AB56A25-211B-4769-B948-9DFDA05C4E75}" type="parTrans" cxnId="{0CCC7BB3-F775-4261-9308-1CF01424A2B2}">
      <dgm:prSet/>
      <dgm:spPr/>
      <dgm:t>
        <a:bodyPr/>
        <a:lstStyle/>
        <a:p>
          <a:endParaRPr lang="fr-MA" sz="1500"/>
        </a:p>
      </dgm:t>
    </dgm:pt>
    <dgm:pt modelId="{E7A6FB54-2EBF-44D4-9511-A6476C3C3B25}" type="sibTrans" cxnId="{0CCC7BB3-F775-4261-9308-1CF01424A2B2}">
      <dgm:prSet/>
      <dgm:spPr/>
      <dgm:t>
        <a:bodyPr/>
        <a:lstStyle/>
        <a:p>
          <a:endParaRPr lang="fr-MA" sz="1500"/>
        </a:p>
      </dgm:t>
    </dgm:pt>
    <dgm:pt modelId="{B2E57BE6-8A69-4F36-8F38-B6D3F89694F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MA" sz="1500" dirty="0"/>
            <a:t>Consommation </a:t>
          </a:r>
          <a:r>
            <a:rPr lang="fr-MA" sz="1500" dirty="0" err="1"/>
            <a:t>LoRaWAN</a:t>
          </a:r>
          <a:r>
            <a:rPr lang="fr-MA" sz="1500" dirty="0"/>
            <a:t> &lt; 50 mA</a:t>
          </a:r>
        </a:p>
      </dgm:t>
    </dgm:pt>
    <dgm:pt modelId="{879713CB-348E-4C4B-98EF-80CEDA4F2D5F}" type="parTrans" cxnId="{1C51D0DA-B7CE-482D-8795-B511DAA13B4F}">
      <dgm:prSet/>
      <dgm:spPr/>
      <dgm:t>
        <a:bodyPr/>
        <a:lstStyle/>
        <a:p>
          <a:endParaRPr lang="fr-MA" sz="1500"/>
        </a:p>
      </dgm:t>
    </dgm:pt>
    <dgm:pt modelId="{94E1F51A-1BF5-4C37-BEB6-AC3E45549216}" type="sibTrans" cxnId="{1C51D0DA-B7CE-482D-8795-B511DAA13B4F}">
      <dgm:prSet/>
      <dgm:spPr/>
      <dgm:t>
        <a:bodyPr/>
        <a:lstStyle/>
        <a:p>
          <a:endParaRPr lang="fr-MA" sz="1500"/>
        </a:p>
      </dgm:t>
    </dgm:pt>
    <dgm:pt modelId="{BB2A38F6-4201-40A5-8763-4F81F5930D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Alertes automatiques au dépassement du seuil</a:t>
          </a:r>
          <a:endParaRPr lang="fr-MA" sz="1500" dirty="0"/>
        </a:p>
      </dgm:t>
    </dgm:pt>
    <dgm:pt modelId="{CF944777-3F46-4290-8BE3-AD01E910969F}" type="parTrans" cxnId="{1C45F2F7-B815-4B2B-BD7F-270B6C3DE047}">
      <dgm:prSet/>
      <dgm:spPr/>
      <dgm:t>
        <a:bodyPr/>
        <a:lstStyle/>
        <a:p>
          <a:endParaRPr lang="fr-MA" sz="1500"/>
        </a:p>
      </dgm:t>
    </dgm:pt>
    <dgm:pt modelId="{71F13FE0-6D35-462B-9265-83983DC69014}" type="sibTrans" cxnId="{1C45F2F7-B815-4B2B-BD7F-270B6C3DE047}">
      <dgm:prSet/>
      <dgm:spPr/>
      <dgm:t>
        <a:bodyPr/>
        <a:lstStyle/>
        <a:p>
          <a:endParaRPr lang="fr-MA" sz="1500"/>
        </a:p>
      </dgm:t>
    </dgm:pt>
    <dgm:pt modelId="{E4308BDD-BC10-4452-B328-C431383A4D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Portée LoRaWAN &gt; 2 km en milieu urbain</a:t>
          </a:r>
          <a:endParaRPr lang="fr-MA" sz="1500" dirty="0"/>
        </a:p>
      </dgm:t>
    </dgm:pt>
    <dgm:pt modelId="{1E50A17D-D4F5-4C4D-9056-4F551C4914A7}" type="parTrans" cxnId="{5F091E94-9F70-4986-B454-9473986BD2DD}">
      <dgm:prSet/>
      <dgm:spPr/>
      <dgm:t>
        <a:bodyPr/>
        <a:lstStyle/>
        <a:p>
          <a:endParaRPr lang="fr-MA" sz="1500"/>
        </a:p>
      </dgm:t>
    </dgm:pt>
    <dgm:pt modelId="{A8A5B19B-4098-411B-AF73-733D8074D1E4}" type="sibTrans" cxnId="{5F091E94-9F70-4986-B454-9473986BD2DD}">
      <dgm:prSet/>
      <dgm:spPr/>
      <dgm:t>
        <a:bodyPr/>
        <a:lstStyle/>
        <a:p>
          <a:endParaRPr lang="fr-MA" sz="1500"/>
        </a:p>
      </dgm:t>
    </dgm:pt>
    <dgm:pt modelId="{CF3C2A40-892B-44B0-AA39-B5FB4D69589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MA" sz="1500" dirty="0"/>
            <a:t>Déploiement sans infrastructure câblée</a:t>
          </a:r>
        </a:p>
      </dgm:t>
    </dgm:pt>
    <dgm:pt modelId="{822CFAE3-2B33-466D-8215-C16F9BE5E123}" type="parTrans" cxnId="{6B1EFD4B-990E-41D0-B221-54A335EF5D1E}">
      <dgm:prSet/>
      <dgm:spPr/>
      <dgm:t>
        <a:bodyPr/>
        <a:lstStyle/>
        <a:p>
          <a:endParaRPr lang="fr-MA" sz="1500"/>
        </a:p>
      </dgm:t>
    </dgm:pt>
    <dgm:pt modelId="{7917E001-4E8A-4995-A3D2-E5D5D6646AE5}" type="sibTrans" cxnId="{6B1EFD4B-990E-41D0-B221-54A335EF5D1E}">
      <dgm:prSet/>
      <dgm:spPr/>
      <dgm:t>
        <a:bodyPr/>
        <a:lstStyle/>
        <a:p>
          <a:endParaRPr lang="fr-MA" sz="1500"/>
        </a:p>
      </dgm:t>
    </dgm:pt>
    <dgm:pt modelId="{ECCF7FAD-C05C-4E39-B785-AD6675511A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Compatible avec d'autres services Smart City</a:t>
          </a:r>
          <a:endParaRPr lang="fr-MA" sz="1500" dirty="0"/>
        </a:p>
      </dgm:t>
    </dgm:pt>
    <dgm:pt modelId="{C44B2B9B-CF43-4A62-96B6-EC66FBC4E901}" type="parTrans" cxnId="{D9B76B60-7AC2-4DD2-8412-7605893290ED}">
      <dgm:prSet/>
      <dgm:spPr/>
      <dgm:t>
        <a:bodyPr/>
        <a:lstStyle/>
        <a:p>
          <a:endParaRPr lang="fr-MA" sz="1500"/>
        </a:p>
      </dgm:t>
    </dgm:pt>
    <dgm:pt modelId="{B5EF08E1-C6F8-44CD-BCBC-78911B5FB90A}" type="sibTrans" cxnId="{D9B76B60-7AC2-4DD2-8412-7605893290ED}">
      <dgm:prSet/>
      <dgm:spPr/>
      <dgm:t>
        <a:bodyPr/>
        <a:lstStyle/>
        <a:p>
          <a:endParaRPr lang="fr-MA" sz="1500"/>
        </a:p>
      </dgm:t>
    </dgm:pt>
    <dgm:pt modelId="{439BA2D0-FDC8-49B1-9CF9-C96E519EF6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MA" sz="1500"/>
            <a:t>Stack open-source : React, ThingSpeak</a:t>
          </a:r>
        </a:p>
      </dgm:t>
    </dgm:pt>
    <dgm:pt modelId="{C44A84E4-A192-46D6-9E42-C3C96ED7A131}" type="parTrans" cxnId="{494B5BF5-0D97-4FB8-B1C7-EC0A77D69F20}">
      <dgm:prSet/>
      <dgm:spPr/>
      <dgm:t>
        <a:bodyPr/>
        <a:lstStyle/>
        <a:p>
          <a:endParaRPr lang="fr-MA" sz="1500"/>
        </a:p>
      </dgm:t>
    </dgm:pt>
    <dgm:pt modelId="{DFB9C8EE-F5EA-4AEF-B1A5-7B6438F98E86}" type="sibTrans" cxnId="{494B5BF5-0D97-4FB8-B1C7-EC0A77D69F20}">
      <dgm:prSet/>
      <dgm:spPr/>
      <dgm:t>
        <a:bodyPr/>
        <a:lstStyle/>
        <a:p>
          <a:endParaRPr lang="fr-MA" sz="1500"/>
        </a:p>
      </dgm:t>
    </dgm:pt>
    <dgm:pt modelId="{BD3E15C0-D7D1-4314-928D-DEC7B16A3E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500" dirty="0"/>
            <a:t>Ajout de capteurs sans modifier l'infrastructure</a:t>
          </a:r>
          <a:endParaRPr lang="fr-MA" sz="1500" dirty="0"/>
        </a:p>
      </dgm:t>
    </dgm:pt>
    <dgm:pt modelId="{7C2A1C02-F540-47EE-8262-5812EE0B08C7}" type="parTrans" cxnId="{FA85DA5B-D3E9-499B-A117-4C444182E95B}">
      <dgm:prSet/>
      <dgm:spPr/>
      <dgm:t>
        <a:bodyPr/>
        <a:lstStyle/>
        <a:p>
          <a:endParaRPr lang="fr-MA" sz="1500"/>
        </a:p>
      </dgm:t>
    </dgm:pt>
    <dgm:pt modelId="{57898339-DD1A-4AB5-92EF-42B939E5F6DA}" type="sibTrans" cxnId="{FA85DA5B-D3E9-499B-A117-4C444182E95B}">
      <dgm:prSet/>
      <dgm:spPr/>
      <dgm:t>
        <a:bodyPr/>
        <a:lstStyle/>
        <a:p>
          <a:endParaRPr lang="fr-MA" sz="1500"/>
        </a:p>
      </dgm:t>
    </dgm:pt>
    <dgm:pt modelId="{D832A03F-3B04-4D70-AD20-9AF4F8D81F25}" type="pres">
      <dgm:prSet presAssocID="{28806C95-40E8-4923-8454-E2CFA55072D3}" presName="Name0" presStyleCnt="0">
        <dgm:presLayoutVars>
          <dgm:dir/>
          <dgm:animLvl val="lvl"/>
          <dgm:resizeHandles val="exact"/>
        </dgm:presLayoutVars>
      </dgm:prSet>
      <dgm:spPr/>
    </dgm:pt>
    <dgm:pt modelId="{6103E0E3-49E7-4E42-A6E3-64A91F6462C7}" type="pres">
      <dgm:prSet presAssocID="{6C4DDBE5-ABFE-4A12-A808-0129C585F31F}" presName="composite" presStyleCnt="0"/>
      <dgm:spPr/>
    </dgm:pt>
    <dgm:pt modelId="{51E24013-018D-460B-A0BB-A48F98179D8E}" type="pres">
      <dgm:prSet presAssocID="{6C4DDBE5-ABFE-4A12-A808-0129C585F31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FAA0C97-98CA-4A95-9BD1-EE59D716CF21}" type="pres">
      <dgm:prSet presAssocID="{6C4DDBE5-ABFE-4A12-A808-0129C585F31F}" presName="desTx" presStyleLbl="alignAccFollowNode1" presStyleIdx="0" presStyleCnt="3">
        <dgm:presLayoutVars>
          <dgm:bulletEnabled val="1"/>
        </dgm:presLayoutVars>
      </dgm:prSet>
      <dgm:spPr/>
    </dgm:pt>
    <dgm:pt modelId="{CBDDB6E7-1CAB-49A9-88CC-CB622CBF2340}" type="pres">
      <dgm:prSet presAssocID="{8AF1C7DC-965E-4F48-8745-328122B460AF}" presName="space" presStyleCnt="0"/>
      <dgm:spPr/>
    </dgm:pt>
    <dgm:pt modelId="{3C8A8841-F2DF-4CCA-A2EA-86BF8C6A8A76}" type="pres">
      <dgm:prSet presAssocID="{B01466A0-4909-48A1-A9D9-391155DDF1EE}" presName="composite" presStyleCnt="0"/>
      <dgm:spPr/>
    </dgm:pt>
    <dgm:pt modelId="{D07947E5-1015-4C9B-A8BC-A8970E9EA7C8}" type="pres">
      <dgm:prSet presAssocID="{B01466A0-4909-48A1-A9D9-391155DDF1E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A1A55B3-40AC-4487-B4E2-8476ECBBE815}" type="pres">
      <dgm:prSet presAssocID="{B01466A0-4909-48A1-A9D9-391155DDF1EE}" presName="desTx" presStyleLbl="alignAccFollowNode1" presStyleIdx="1" presStyleCnt="3">
        <dgm:presLayoutVars>
          <dgm:bulletEnabled val="1"/>
        </dgm:presLayoutVars>
      </dgm:prSet>
      <dgm:spPr/>
    </dgm:pt>
    <dgm:pt modelId="{41B68188-FFA9-4D65-B2B6-62F69841A0E4}" type="pres">
      <dgm:prSet presAssocID="{A2E38748-3FF6-4E22-A22C-5CD76AA97507}" presName="space" presStyleCnt="0"/>
      <dgm:spPr/>
    </dgm:pt>
    <dgm:pt modelId="{C292781C-54DC-41EF-8F4F-608BB2EE0230}" type="pres">
      <dgm:prSet presAssocID="{D1DD0595-A1C2-4DA4-9ADE-0E65DBC1AA90}" presName="composite" presStyleCnt="0"/>
      <dgm:spPr/>
    </dgm:pt>
    <dgm:pt modelId="{F467F911-413F-4504-A613-CD2441EEB3E4}" type="pres">
      <dgm:prSet presAssocID="{D1DD0595-A1C2-4DA4-9ADE-0E65DBC1AA9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C421924-C021-425C-8106-79C7CFAD7A00}" type="pres">
      <dgm:prSet presAssocID="{D1DD0595-A1C2-4DA4-9ADE-0E65DBC1AA9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8E6F09-D60D-4A21-9630-004771D8E761}" srcId="{28806C95-40E8-4923-8454-E2CFA55072D3}" destId="{B01466A0-4909-48A1-A9D9-391155DDF1EE}" srcOrd="1" destOrd="0" parTransId="{42EB171B-D31E-41F0-9E9E-F6B67F566179}" sibTransId="{A2E38748-3FF6-4E22-A22C-5CD76AA97507}"/>
    <dgm:cxn modelId="{47FD5117-6B19-45E1-BBCD-A371911E0350}" type="presOf" srcId="{BB2A38F6-4201-40A5-8763-4F81F5930DEB}" destId="{0A1A55B3-40AC-4487-B4E2-8476ECBBE815}" srcOrd="0" destOrd="1" presId="urn:microsoft.com/office/officeart/2005/8/layout/hList1"/>
    <dgm:cxn modelId="{F52B9A1C-5114-4C4D-AB7D-F36A8067D600}" type="presOf" srcId="{ECCF7FAD-C05C-4E39-B785-AD6675511A03}" destId="{5C421924-C021-425C-8106-79C7CFAD7A00}" srcOrd="0" destOrd="1" presId="urn:microsoft.com/office/officeart/2005/8/layout/hList1"/>
    <dgm:cxn modelId="{95980721-D162-42ED-A521-1D6FCA05ED91}" type="presOf" srcId="{C10AEF60-7D56-4965-AE3E-505E4BB3C921}" destId="{CFAA0C97-98CA-4A95-9BD1-EE59D716CF21}" srcOrd="0" destOrd="0" presId="urn:microsoft.com/office/officeart/2005/8/layout/hList1"/>
    <dgm:cxn modelId="{F3EA842C-C800-457D-929C-FD2DC74015CC}" type="presOf" srcId="{439BA2D0-FDC8-49B1-9CF9-C96E519EF6E0}" destId="{5C421924-C021-425C-8106-79C7CFAD7A00}" srcOrd="0" destOrd="2" presId="urn:microsoft.com/office/officeart/2005/8/layout/hList1"/>
    <dgm:cxn modelId="{D295722F-ADCE-4BC8-996A-D9CFF160A4D0}" type="presOf" srcId="{AC22C8E3-40B3-48D0-AA2C-2FD2AD6E3C90}" destId="{5C421924-C021-425C-8106-79C7CFAD7A00}" srcOrd="0" destOrd="0" presId="urn:microsoft.com/office/officeart/2005/8/layout/hList1"/>
    <dgm:cxn modelId="{6992E931-93D3-42B9-9DD9-563A77993119}" type="presOf" srcId="{971BDA89-9DF7-4B30-9A9E-AE9D7121873E}" destId="{CFAA0C97-98CA-4A95-9BD1-EE59D716CF21}" srcOrd="0" destOrd="1" presId="urn:microsoft.com/office/officeart/2005/8/layout/hList1"/>
    <dgm:cxn modelId="{2BC44832-7C48-4971-A15F-24278FB47BA5}" type="presOf" srcId="{D1DD0595-A1C2-4DA4-9ADE-0E65DBC1AA90}" destId="{F467F911-413F-4504-A613-CD2441EEB3E4}" srcOrd="0" destOrd="0" presId="urn:microsoft.com/office/officeart/2005/8/layout/hList1"/>
    <dgm:cxn modelId="{D336B335-59FE-4335-A3B0-4DD649569C3A}" type="presOf" srcId="{BD3E15C0-D7D1-4314-928D-DEC7B16A3EBA}" destId="{5C421924-C021-425C-8106-79C7CFAD7A00}" srcOrd="0" destOrd="3" presId="urn:microsoft.com/office/officeart/2005/8/layout/hList1"/>
    <dgm:cxn modelId="{9FDF7E38-261F-41E4-A08F-F87D54B8223F}" type="presOf" srcId="{28B91869-EBDD-498D-9EFA-E12CDB5C3020}" destId="{CFAA0C97-98CA-4A95-9BD1-EE59D716CF21}" srcOrd="0" destOrd="2" presId="urn:microsoft.com/office/officeart/2005/8/layout/hList1"/>
    <dgm:cxn modelId="{FA85DA5B-D3E9-499B-A117-4C444182E95B}" srcId="{D1DD0595-A1C2-4DA4-9ADE-0E65DBC1AA90}" destId="{BD3E15C0-D7D1-4314-928D-DEC7B16A3EBA}" srcOrd="3" destOrd="0" parTransId="{7C2A1C02-F540-47EE-8262-5812EE0B08C7}" sibTransId="{57898339-DD1A-4AB5-92EF-42B939E5F6DA}"/>
    <dgm:cxn modelId="{D9B76B60-7AC2-4DD2-8412-7605893290ED}" srcId="{D1DD0595-A1C2-4DA4-9ADE-0E65DBC1AA90}" destId="{ECCF7FAD-C05C-4E39-B785-AD6675511A03}" srcOrd="1" destOrd="0" parTransId="{C44B2B9B-CF43-4A62-96B6-EC66FBC4E901}" sibTransId="{B5EF08E1-C6F8-44CD-BCBC-78911B5FB90A}"/>
    <dgm:cxn modelId="{34F8E868-2A3C-414F-A78F-EC7FC99E76EE}" type="presOf" srcId="{8420202E-69FF-4A52-A450-68516AF27AE9}" destId="{0A1A55B3-40AC-4487-B4E2-8476ECBBE815}" srcOrd="0" destOrd="0" presId="urn:microsoft.com/office/officeart/2005/8/layout/hList1"/>
    <dgm:cxn modelId="{6B1EFD4B-990E-41D0-B221-54A335EF5D1E}" srcId="{B01466A0-4909-48A1-A9D9-391155DDF1EE}" destId="{CF3C2A40-892B-44B0-AA39-B5FB4D69589D}" srcOrd="3" destOrd="0" parTransId="{822CFAE3-2B33-466D-8215-C16F9BE5E123}" sibTransId="{7917E001-4E8A-4995-A3D2-E5D5D6646AE5}"/>
    <dgm:cxn modelId="{7D78F771-5AC1-44EE-B78F-F2A767DB6B1C}" srcId="{28806C95-40E8-4923-8454-E2CFA55072D3}" destId="{D1DD0595-A1C2-4DA4-9ADE-0E65DBC1AA90}" srcOrd="2" destOrd="0" parTransId="{BFF33FCE-F8E0-4CE6-8968-0C77781E8E8F}" sibTransId="{928BB4FC-BB0A-4022-BA91-715E9A606897}"/>
    <dgm:cxn modelId="{2EC06953-3C83-4FE3-A2A1-75EB2A98736D}" srcId="{28806C95-40E8-4923-8454-E2CFA55072D3}" destId="{6C4DDBE5-ABFE-4A12-A808-0129C585F31F}" srcOrd="0" destOrd="0" parTransId="{E2FEC078-ED51-465C-9AF7-771E42428FB5}" sibTransId="{8AF1C7DC-965E-4F48-8745-328122B460AF}"/>
    <dgm:cxn modelId="{31220074-1C7F-4F55-94E2-169995BF423A}" type="presOf" srcId="{CF3C2A40-892B-44B0-AA39-B5FB4D69589D}" destId="{0A1A55B3-40AC-4487-B4E2-8476ECBBE815}" srcOrd="0" destOrd="3" presId="urn:microsoft.com/office/officeart/2005/8/layout/hList1"/>
    <dgm:cxn modelId="{6197D675-F3E6-47BA-8A5C-E8EB8DC6C9AC}" srcId="{6C4DDBE5-ABFE-4A12-A808-0129C585F31F}" destId="{C10AEF60-7D56-4965-AE3E-505E4BB3C921}" srcOrd="0" destOrd="0" parTransId="{D1DB2568-61ED-4791-9BAB-0AEAB99BFD2C}" sibTransId="{4412BDE9-E772-4098-8C4F-6918F068EE01}"/>
    <dgm:cxn modelId="{5F091E94-9F70-4986-B454-9473986BD2DD}" srcId="{B01466A0-4909-48A1-A9D9-391155DDF1EE}" destId="{E4308BDD-BC10-4452-B328-C431383A4DD4}" srcOrd="2" destOrd="0" parTransId="{1E50A17D-D4F5-4C4D-9056-4F551C4914A7}" sibTransId="{A8A5B19B-4098-411B-AF73-733D8074D1E4}"/>
    <dgm:cxn modelId="{67749694-A44B-49BF-8FA2-E84B37DAC637}" srcId="{6C4DDBE5-ABFE-4A12-A808-0129C585F31F}" destId="{971BDA89-9DF7-4B30-9A9E-AE9D7121873E}" srcOrd="1" destOrd="0" parTransId="{E31C470A-E01B-4421-806E-A89E7FC7D06A}" sibTransId="{3D90703B-A53C-49FF-B630-6B32F5E51634}"/>
    <dgm:cxn modelId="{22F92D99-2C48-48B5-B120-1C6C27B8CF95}" type="presOf" srcId="{28806C95-40E8-4923-8454-E2CFA55072D3}" destId="{D832A03F-3B04-4D70-AD20-9AF4F8D81F25}" srcOrd="0" destOrd="0" presId="urn:microsoft.com/office/officeart/2005/8/layout/hList1"/>
    <dgm:cxn modelId="{69491FA4-48E2-4060-9BE8-E3CF27979D4F}" type="presOf" srcId="{B01466A0-4909-48A1-A9D9-391155DDF1EE}" destId="{D07947E5-1015-4C9B-A8BC-A8970E9EA7C8}" srcOrd="0" destOrd="0" presId="urn:microsoft.com/office/officeart/2005/8/layout/hList1"/>
    <dgm:cxn modelId="{03A0E8A4-6099-46B6-9AFF-27EB17F64220}" type="presOf" srcId="{6C4DDBE5-ABFE-4A12-A808-0129C585F31F}" destId="{51E24013-018D-460B-A0BB-A48F98179D8E}" srcOrd="0" destOrd="0" presId="urn:microsoft.com/office/officeart/2005/8/layout/hList1"/>
    <dgm:cxn modelId="{271898AE-3B45-4EF8-9972-790A78E0BF98}" type="presOf" srcId="{E4308BDD-BC10-4452-B328-C431383A4DD4}" destId="{0A1A55B3-40AC-4487-B4E2-8476ECBBE815}" srcOrd="0" destOrd="2" presId="urn:microsoft.com/office/officeart/2005/8/layout/hList1"/>
    <dgm:cxn modelId="{0CCC7BB3-F775-4261-9308-1CF01424A2B2}" srcId="{6C4DDBE5-ABFE-4A12-A808-0129C585F31F}" destId="{28B91869-EBDD-498D-9EFA-E12CDB5C3020}" srcOrd="2" destOrd="0" parTransId="{7AB56A25-211B-4769-B948-9DFDA05C4E75}" sibTransId="{E7A6FB54-2EBF-44D4-9511-A6476C3C3B25}"/>
    <dgm:cxn modelId="{13A121C9-7E73-4701-B2F6-BF2B8AD05910}" type="presOf" srcId="{B2E57BE6-8A69-4F36-8F38-B6D3F89694F0}" destId="{CFAA0C97-98CA-4A95-9BD1-EE59D716CF21}" srcOrd="0" destOrd="3" presId="urn:microsoft.com/office/officeart/2005/8/layout/hList1"/>
    <dgm:cxn modelId="{CBE785D4-3D96-4180-B90A-A01677F29F73}" srcId="{B01466A0-4909-48A1-A9D9-391155DDF1EE}" destId="{8420202E-69FF-4A52-A450-68516AF27AE9}" srcOrd="0" destOrd="0" parTransId="{5442C41B-341D-4B6D-8932-7ABE4B96703D}" sibTransId="{B14A8790-8095-421F-93CE-4EA02E823AD4}"/>
    <dgm:cxn modelId="{1C51D0DA-B7CE-482D-8795-B511DAA13B4F}" srcId="{6C4DDBE5-ABFE-4A12-A808-0129C585F31F}" destId="{B2E57BE6-8A69-4F36-8F38-B6D3F89694F0}" srcOrd="3" destOrd="0" parTransId="{879713CB-348E-4C4B-98EF-80CEDA4F2D5F}" sibTransId="{94E1F51A-1BF5-4C37-BEB6-AC3E45549216}"/>
    <dgm:cxn modelId="{F5E20FE7-5DAF-4183-9311-17DDE82EF560}" srcId="{D1DD0595-A1C2-4DA4-9ADE-0E65DBC1AA90}" destId="{AC22C8E3-40B3-48D0-AA2C-2FD2AD6E3C90}" srcOrd="0" destOrd="0" parTransId="{10FCEDF6-5565-44C2-BA49-E135AE40182D}" sibTransId="{1D57605C-3EE1-4BB6-A9E4-20E9CFE8CABF}"/>
    <dgm:cxn modelId="{494B5BF5-0D97-4FB8-B1C7-EC0A77D69F20}" srcId="{D1DD0595-A1C2-4DA4-9ADE-0E65DBC1AA90}" destId="{439BA2D0-FDC8-49B1-9CF9-C96E519EF6E0}" srcOrd="2" destOrd="0" parTransId="{C44A84E4-A192-46D6-9E42-C3C96ED7A131}" sibTransId="{DFB9C8EE-F5EA-4AEF-B1A5-7B6438F98E86}"/>
    <dgm:cxn modelId="{1C45F2F7-B815-4B2B-BD7F-270B6C3DE047}" srcId="{B01466A0-4909-48A1-A9D9-391155DDF1EE}" destId="{BB2A38F6-4201-40A5-8763-4F81F5930DEB}" srcOrd="1" destOrd="0" parTransId="{CF944777-3F46-4290-8BE3-AD01E910969F}" sibTransId="{71F13FE0-6D35-462B-9265-83983DC69014}"/>
    <dgm:cxn modelId="{AD48E7DF-ADE3-4FCC-A9D3-B9CC3C1E1CAB}" type="presParOf" srcId="{D832A03F-3B04-4D70-AD20-9AF4F8D81F25}" destId="{6103E0E3-49E7-4E42-A6E3-64A91F6462C7}" srcOrd="0" destOrd="0" presId="urn:microsoft.com/office/officeart/2005/8/layout/hList1"/>
    <dgm:cxn modelId="{BA573DB9-7AC4-4C51-A05A-FD6BB9C10E32}" type="presParOf" srcId="{6103E0E3-49E7-4E42-A6E3-64A91F6462C7}" destId="{51E24013-018D-460B-A0BB-A48F98179D8E}" srcOrd="0" destOrd="0" presId="urn:microsoft.com/office/officeart/2005/8/layout/hList1"/>
    <dgm:cxn modelId="{D16A1207-8503-40E7-A707-C7DB281E6001}" type="presParOf" srcId="{6103E0E3-49E7-4E42-A6E3-64A91F6462C7}" destId="{CFAA0C97-98CA-4A95-9BD1-EE59D716CF21}" srcOrd="1" destOrd="0" presId="urn:microsoft.com/office/officeart/2005/8/layout/hList1"/>
    <dgm:cxn modelId="{8D4A7AD1-B9BF-4AC6-9EFE-44D3C3D5EF0E}" type="presParOf" srcId="{D832A03F-3B04-4D70-AD20-9AF4F8D81F25}" destId="{CBDDB6E7-1CAB-49A9-88CC-CB622CBF2340}" srcOrd="1" destOrd="0" presId="urn:microsoft.com/office/officeart/2005/8/layout/hList1"/>
    <dgm:cxn modelId="{8B7D06B2-5A94-440C-B47B-7C4DC8BF6B89}" type="presParOf" srcId="{D832A03F-3B04-4D70-AD20-9AF4F8D81F25}" destId="{3C8A8841-F2DF-4CCA-A2EA-86BF8C6A8A76}" srcOrd="2" destOrd="0" presId="urn:microsoft.com/office/officeart/2005/8/layout/hList1"/>
    <dgm:cxn modelId="{9DEA5196-E559-426F-BB28-8AD76B04F4C4}" type="presParOf" srcId="{3C8A8841-F2DF-4CCA-A2EA-86BF8C6A8A76}" destId="{D07947E5-1015-4C9B-A8BC-A8970E9EA7C8}" srcOrd="0" destOrd="0" presId="urn:microsoft.com/office/officeart/2005/8/layout/hList1"/>
    <dgm:cxn modelId="{005CF07C-24A6-4B10-870E-99E76A225835}" type="presParOf" srcId="{3C8A8841-F2DF-4CCA-A2EA-86BF8C6A8A76}" destId="{0A1A55B3-40AC-4487-B4E2-8476ECBBE815}" srcOrd="1" destOrd="0" presId="urn:microsoft.com/office/officeart/2005/8/layout/hList1"/>
    <dgm:cxn modelId="{CC411908-FD42-4861-AE7F-D6B0345A3C88}" type="presParOf" srcId="{D832A03F-3B04-4D70-AD20-9AF4F8D81F25}" destId="{41B68188-FFA9-4D65-B2B6-62F69841A0E4}" srcOrd="3" destOrd="0" presId="urn:microsoft.com/office/officeart/2005/8/layout/hList1"/>
    <dgm:cxn modelId="{CD8A07EA-B03D-4D6D-BBA4-3283F4CBD551}" type="presParOf" srcId="{D832A03F-3B04-4D70-AD20-9AF4F8D81F25}" destId="{C292781C-54DC-41EF-8F4F-608BB2EE0230}" srcOrd="4" destOrd="0" presId="urn:microsoft.com/office/officeart/2005/8/layout/hList1"/>
    <dgm:cxn modelId="{F477F809-3A1A-491F-A764-0CE4AB2B9113}" type="presParOf" srcId="{C292781C-54DC-41EF-8F4F-608BB2EE0230}" destId="{F467F911-413F-4504-A613-CD2441EEB3E4}" srcOrd="0" destOrd="0" presId="urn:microsoft.com/office/officeart/2005/8/layout/hList1"/>
    <dgm:cxn modelId="{88E48FE9-5CC5-4EAB-8284-8B9669EC0975}" type="presParOf" srcId="{C292781C-54DC-41EF-8F4F-608BB2EE0230}" destId="{5C421924-C021-425C-8106-79C7CFAD7A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24013-018D-460B-A0BB-A48F98179D8E}">
      <dsp:nvSpPr>
        <dsp:cNvPr id="0" name=""/>
        <dsp:cNvSpPr/>
      </dsp:nvSpPr>
      <dsp:spPr>
        <a:xfrm>
          <a:off x="3560" y="203800"/>
          <a:ext cx="3471743" cy="13886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strike="noStrike" kern="1200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💰</a:t>
          </a:r>
          <a:r>
            <a:rPr lang="fr-MA" sz="1500" kern="1200" dirty="0"/>
            <a:t>Avantages Économiques</a:t>
          </a:r>
        </a:p>
      </dsp:txBody>
      <dsp:txXfrm>
        <a:off x="3560" y="203800"/>
        <a:ext cx="3471743" cy="1388697"/>
      </dsp:txXfrm>
    </dsp:sp>
    <dsp:sp modelId="{CFAA0C97-98CA-4A95-9BD1-EE59D716CF21}">
      <dsp:nvSpPr>
        <dsp:cNvPr id="0" name=""/>
        <dsp:cNvSpPr/>
      </dsp:nvSpPr>
      <dsp:spPr>
        <a:xfrm>
          <a:off x="3560" y="1592498"/>
          <a:ext cx="3471743" cy="2854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Réduction des coûts de collecte jusqu'à 30%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Collecte uniquement si poubelle pleine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Batterie capteur : durée de vie 10 ans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MA" sz="1500" kern="1200" dirty="0"/>
            <a:t>Consommation </a:t>
          </a:r>
          <a:r>
            <a:rPr lang="fr-MA" sz="1500" kern="1200" dirty="0" err="1"/>
            <a:t>LoRaWAN</a:t>
          </a:r>
          <a:r>
            <a:rPr lang="fr-MA" sz="1500" kern="1200" dirty="0"/>
            <a:t> &lt; 50 mA</a:t>
          </a:r>
        </a:p>
      </dsp:txBody>
      <dsp:txXfrm>
        <a:off x="3560" y="1592498"/>
        <a:ext cx="3471743" cy="2854800"/>
      </dsp:txXfrm>
    </dsp:sp>
    <dsp:sp modelId="{D07947E5-1015-4C9B-A8BC-A8970E9EA7C8}">
      <dsp:nvSpPr>
        <dsp:cNvPr id="0" name=""/>
        <dsp:cNvSpPr/>
      </dsp:nvSpPr>
      <dsp:spPr>
        <a:xfrm>
          <a:off x="3961348" y="203800"/>
          <a:ext cx="3471743" cy="1388697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strike="noStrike" kern="1200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⚙️</a:t>
          </a:r>
          <a:r>
            <a:rPr lang="fr-MA" sz="1500" kern="1200" dirty="0"/>
            <a:t>Avantages Opérationnels</a:t>
          </a:r>
        </a:p>
      </dsp:txBody>
      <dsp:txXfrm>
        <a:off x="3961348" y="203800"/>
        <a:ext cx="3471743" cy="1388697"/>
      </dsp:txXfrm>
    </dsp:sp>
    <dsp:sp modelId="{0A1A55B3-40AC-4487-B4E2-8476ECBBE815}">
      <dsp:nvSpPr>
        <dsp:cNvPr id="0" name=""/>
        <dsp:cNvSpPr/>
      </dsp:nvSpPr>
      <dsp:spPr>
        <a:xfrm>
          <a:off x="3961348" y="1592498"/>
          <a:ext cx="3471743" cy="2854800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Supervision temps réel depuis un tableau de bord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Alertes automatiques au dépassement du seuil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Portée LoRaWAN &gt; 2 km en milieu urbain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MA" sz="1500" kern="1200" dirty="0"/>
            <a:t>Déploiement sans infrastructure câblée</a:t>
          </a:r>
        </a:p>
      </dsp:txBody>
      <dsp:txXfrm>
        <a:off x="3961348" y="1592498"/>
        <a:ext cx="3471743" cy="2854800"/>
      </dsp:txXfrm>
    </dsp:sp>
    <dsp:sp modelId="{F467F911-413F-4504-A613-CD2441EEB3E4}">
      <dsp:nvSpPr>
        <dsp:cNvPr id="0" name=""/>
        <dsp:cNvSpPr/>
      </dsp:nvSpPr>
      <dsp:spPr>
        <a:xfrm>
          <a:off x="7919135" y="203800"/>
          <a:ext cx="3471743" cy="1388697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strike="noStrike" kern="1200" cap="none" dirty="0">
              <a:solidFill>
                <a:srgbClr val="0A2342"/>
              </a:solidFill>
              <a:latin typeface="Plus Jakarta Sans"/>
              <a:ea typeface="Plus Jakarta Sans"/>
              <a:cs typeface="Plus Jakarta Sans"/>
              <a:sym typeface="Plus Jakarta Sans"/>
            </a:rPr>
            <a:t>🔧</a:t>
          </a:r>
          <a:r>
            <a:rPr lang="fr-MA" sz="1500" b="0" i="0" u="none" strike="noStrike" kern="1200" cap="none" dirty="0">
              <a:solidFill>
                <a:srgbClr val="0A2342"/>
              </a:solidFill>
              <a:latin typeface="Plus Jakarta Sans"/>
              <a:cs typeface="Plus Jakarta Sans"/>
              <a:sym typeface="Plus Jakarta Sans"/>
            </a:rPr>
            <a:t>Avantages Technologiques</a:t>
          </a:r>
          <a:endParaRPr lang="fr-MA" sz="1500" kern="1200" dirty="0"/>
        </a:p>
      </dsp:txBody>
      <dsp:txXfrm>
        <a:off x="7919135" y="203800"/>
        <a:ext cx="3471743" cy="1388697"/>
      </dsp:txXfrm>
    </dsp:sp>
    <dsp:sp modelId="{5C421924-C021-425C-8106-79C7CFAD7A00}">
      <dsp:nvSpPr>
        <dsp:cNvPr id="0" name=""/>
        <dsp:cNvSpPr/>
      </dsp:nvSpPr>
      <dsp:spPr>
        <a:xfrm>
          <a:off x="7919135" y="1592498"/>
          <a:ext cx="3471743" cy="2854800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MA" sz="1500" kern="1200" dirty="0"/>
            <a:t>Architecture modulaire et extensible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Compatible avec d'autres services Smart City</a:t>
          </a:r>
          <a:endParaRPr lang="fr-MA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MA" sz="1500" kern="1200"/>
            <a:t>Stack open-source : React, ThingSpeak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Ajout de capteurs sans modifier l'infrastructure</a:t>
          </a:r>
          <a:endParaRPr lang="fr-MA" sz="1500" kern="1200" dirty="0"/>
        </a:p>
      </dsp:txBody>
      <dsp:txXfrm>
        <a:off x="7919135" y="1592498"/>
        <a:ext cx="3471743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CEA6F-A0E1-409A-84FD-79BAE08ED765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C98AD-B4DA-43ED-A4BE-450EF19C7B1A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2362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42E2AD-E320-7B0D-21C5-2DFF6ABD7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C480BD-FEC5-ACDF-9308-2B2C4C6D83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2EBE8C7-D0B5-F400-D7EB-82143D6BA7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ABD48A-209C-599A-1D26-535094BC38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38E058-D9E7-56C2-485F-FD4A7ADFF3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E4FEFF-5500-E0A8-AF43-10E5293727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7AB2D1-2B1F-9DEF-C6FA-DC030B22ED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4C61E3-88B3-5E09-CCA2-11BA8BD8DE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0D2AF2-2D2C-2A14-3194-69FFD9B53F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E9A05F-07CB-66B3-6A67-268689D60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BD3820-D683-BA9B-66FB-6B761F61FB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CB147C-E048-63D7-B6AD-D6A0188983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825C48-7C52-1993-AC60-8C601FE64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871566-DF5E-13E1-395C-1D4BA8FF9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901454-DBF0-74E0-47A5-E415A916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058721-12B3-A075-1AFC-C52942ED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7AF1F2-4B06-99F9-6D5B-3527530C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0362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53A8D-C174-748E-2770-91923883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D8AE2-2A67-65CC-4467-EB9CC12D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E653C7-5BF2-9A49-CDCD-9905205B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8AB72-7DCA-3FFB-980F-8274B990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95382F-EB04-6F28-CEAB-C6672ACE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4329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83AC8-E027-880B-B214-676BC80C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6E40E3-BD10-D418-0D78-C7EE060C7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D240C5-92E5-E9BE-6553-10D2E24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DEB0E8-8ED2-A15A-87E9-223D3B5F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4BBAD7-41B6-BDBB-33B9-0DD45404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6902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E03D7-E74C-D649-31FB-31289CF2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5A446-9D94-7F0F-048E-1E37F2364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D0ABF1-C476-43CE-7875-0613A53CC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FAB76-E60E-E762-FA8A-37BD087E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6F6DF1-ACFF-1F88-2FFA-7503EE98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E6EC28-FEB9-746A-FBAE-F3DFF3D1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8050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C7A600-4414-C4DF-D97F-20E40D5E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CB308B-A99E-C582-DD4B-0617A086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487509-764A-C730-3E9E-0928C358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B618B0-F2DF-9272-D576-C89B9397D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9411C15-F5D3-1FE2-5935-89EF62720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33B0AF0-6029-8077-8B9D-41A0AF9B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E185F14-0331-CAE2-B9F3-43431DC4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D68A27-5952-581E-3B2C-AE54A0E7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8353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83EB25-1404-4689-90A2-55851795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8B3AAF-0531-5EB4-BB52-F3E15936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5AD339-EE87-761D-E9DA-C780BB93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14F016-EF96-202C-EB30-206043BC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6835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1E0AE2-E9E2-7224-9B97-AE3657BC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689CC2-C121-EA86-D956-782BDFD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443711-A0F4-6E29-A507-AAF63F44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3289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6A4F7-0D89-1578-6BAA-9B2A3249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5CB30-5D39-7AF1-C1ED-BA7F0301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B20884-5F8E-1953-9DC7-E3F59115D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F0B7F0-89C5-1E2B-4205-FB76EA81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5A7392-3D8A-FB8C-40DB-FCB75378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816253-282B-A00C-5F5D-E3A7CF77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7383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B927E-72DC-BC17-A9BE-51285CEA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69433A-5925-837F-5283-528F91F4D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9D9618-D39F-869F-CAB3-CBA6A5FD2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A5FB66-10A1-0583-2C92-A43E5AF4C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50238D-F868-8724-9921-8D108E69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A877B3-1C24-B4A6-9D12-34E5338D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2981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BEC4B-5D71-C2DB-6F50-54C28FAF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057933-BAE5-D726-0D51-2B2865180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A48CAF-34B2-A26B-9417-5811BA8F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650B7-B75E-0624-3E70-3DC4D255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858A37-69A8-5605-8A58-FBFEA392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0834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F0220D-F868-0B07-001D-1D5E2D50F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9BB8D7-4A45-B33F-2383-9A8ABD9E6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B2328E-F2E2-8E48-E265-0D5C6F78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308490-EF5A-1E24-7674-4DFA5A97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F63585-D6D0-A7B0-08C9-7D6E041A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050324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07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74567E9-2483-C330-76B4-52F75C950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2280" y="822960"/>
            <a:ext cx="4663440" cy="192024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"/>
              <a:t>cliquez pour modifier le style du titre principal</a:t>
            </a:r>
          </a:p>
        </p:txBody>
      </p:sp>
      <p:sp>
        <p:nvSpPr>
          <p:cNvPr id="9" name="Espace réservé à l'image 8">
            <a:extLst>
              <a:ext uri="{FF2B5EF4-FFF2-40B4-BE49-F238E27FC236}">
                <a16:creationId xmlns:a16="http://schemas.microsoft.com/office/drawing/2014/main" id="{37A5DB37-3750-510E-8CAA-D76AFD5CC5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8192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5" name="Espace réservé au contenu 5">
            <a:extLst>
              <a:ext uri="{FF2B5EF4-FFF2-40B4-BE49-F238E27FC236}">
                <a16:creationId xmlns:a16="http://schemas.microsoft.com/office/drawing/2014/main" id="{71B91E2B-214A-27EB-DD9A-E9FF3D8BFB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2280" y="3529584"/>
            <a:ext cx="4663440" cy="2350008"/>
          </a:xfrm>
        </p:spPr>
        <p:txBody>
          <a:bodyPr rtlCol="0"/>
          <a:lstStyle>
            <a:lvl1pPr marL="285744" indent="-285744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"/>
          </a:p>
        </p:txBody>
      </p:sp>
      <p:sp>
        <p:nvSpPr>
          <p:cNvPr id="2" name="Pied de page Espace réservé 1">
            <a:extLst>
              <a:ext uri="{FF2B5EF4-FFF2-40B4-BE49-F238E27FC236}">
                <a16:creationId xmlns:a16="http://schemas.microsoft.com/office/drawing/2014/main" id="{CD0CFB59-AAC5-2429-8ABD-5C7810D2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2280" y="6254496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au numéro de diapositive 5">
            <a:extLst>
              <a:ext uri="{FF2B5EF4-FFF2-40B4-BE49-F238E27FC236}">
                <a16:creationId xmlns:a16="http://schemas.microsoft.com/office/drawing/2014/main" id="{A4BBF308-C3AC-92A2-F532-FF8180F4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pPr rtl="0"/>
            <a:fld id="{8058A7CE-F400-7B46-9E16-10D36E8C32FD}" type="slidenum">
              <a:rPr lang="en-US" smtClean="0"/>
              <a:pPr rtl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6633E0-B14A-DCE1-F7F9-34C2A9D0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A19C13-22D0-5F69-4846-8768E010B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AA8A47-9200-447C-8ED1-CBB84EFF0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D96C8-11CF-4367-B4AF-E995CD221003}" type="datetimeFigureOut">
              <a:rPr lang="fr-MA" smtClean="0"/>
              <a:t>21/04/2026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F5C653-1E8F-F5E2-8D8B-21F0AA04A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06E18E-96E1-7AE8-101C-FD2DE36BE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764AC-930F-4356-A61C-90106682596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9917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emf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emf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png"/><Relationship Id="rId7" Type="http://schemas.openxmlformats.org/officeDocument/2006/relationships/image" Target="../media/image3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emf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528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439"/>
            <a:ext cx="12192000" cy="508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47" y="299343"/>
            <a:ext cx="6351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496" y="286940"/>
            <a:ext cx="1549400" cy="203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584"/>
              </a:lnSpc>
            </a:pPr>
            <a:r>
              <a:rPr lang="en-US" sz="933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HESTIM</a:t>
            </a:r>
            <a:endParaRPr lang="en-US" sz="933" dirty="0"/>
          </a:p>
        </p:txBody>
      </p:sp>
      <p:sp>
        <p:nvSpPr>
          <p:cNvPr id="6" name="Text 2"/>
          <p:cNvSpPr/>
          <p:nvPr/>
        </p:nvSpPr>
        <p:spPr>
          <a:xfrm>
            <a:off x="762496" y="488901"/>
            <a:ext cx="1549400" cy="165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296"/>
              </a:lnSpc>
            </a:pPr>
            <a:r>
              <a:rPr lang="en-US" sz="8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Engineering &amp; Business School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9789169" y="412708"/>
            <a:ext cx="1701056" cy="203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512"/>
              </a:lnSpc>
              <a:spcAft>
                <a:spcPts val="809"/>
              </a:spcAft>
            </a:pPr>
            <a:r>
              <a:rPr lang="en-US" sz="933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 PACTE </a:t>
            </a:r>
            <a:endParaRPr lang="en-US" sz="933" dirty="0"/>
          </a:p>
        </p:txBody>
      </p:sp>
      <p:sp>
        <p:nvSpPr>
          <p:cNvPr id="8" name="Text 4"/>
          <p:cNvSpPr/>
          <p:nvPr/>
        </p:nvSpPr>
        <p:spPr>
          <a:xfrm>
            <a:off x="610841" y="1587797"/>
            <a:ext cx="5118100" cy="24574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4839"/>
              </a:lnSpc>
            </a:pPr>
            <a:r>
              <a:rPr lang="en-US" sz="4533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Système</a:t>
            </a:r>
            <a:endParaRPr lang="en-US" sz="4533" dirty="0"/>
          </a:p>
          <a:p>
            <a:pPr>
              <a:lnSpc>
                <a:spcPts val="4839"/>
              </a:lnSpc>
            </a:pPr>
            <a:r>
              <a:rPr lang="en-US" sz="4533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 de</a:t>
            </a:r>
            <a:endParaRPr lang="en-US" sz="4533" dirty="0"/>
          </a:p>
          <a:p>
            <a:pPr>
              <a:lnSpc>
                <a:spcPts val="4839"/>
              </a:lnSpc>
            </a:pPr>
            <a:r>
              <a:rPr lang="en-US" sz="4533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des</a:t>
            </a:r>
            <a:endParaRPr lang="en-US" sz="4533" dirty="0"/>
          </a:p>
          <a:p>
            <a:pPr>
              <a:lnSpc>
                <a:spcPts val="4839"/>
              </a:lnSpc>
            </a:pPr>
            <a:r>
              <a:rPr lang="en-US" sz="4533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Poubelles</a:t>
            </a:r>
            <a:endParaRPr lang="en-US" sz="4533" dirty="0"/>
          </a:p>
        </p:txBody>
      </p:sp>
      <p:sp>
        <p:nvSpPr>
          <p:cNvPr id="9" name="Text 5"/>
          <p:cNvSpPr/>
          <p:nvPr/>
        </p:nvSpPr>
        <p:spPr>
          <a:xfrm>
            <a:off x="610841" y="4149378"/>
            <a:ext cx="5118100" cy="2349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  <a:spcBef>
                <a:spcPts val="809"/>
              </a:spcBef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Waste Management System — </a:t>
            </a:r>
            <a:r>
              <a:rPr lang="en-US" sz="1200" b="1" dirty="0">
                <a:solidFill>
                  <a:srgbClr val="F4A8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basé sur LoRaWAN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9649" y="5024686"/>
            <a:ext cx="2076451" cy="165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296"/>
              </a:lnSpc>
              <a:spcAft>
                <a:spcPts val="324"/>
              </a:spcAft>
            </a:pPr>
            <a:r>
              <a:rPr lang="en-US" sz="8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RÉALISÉ PAR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09649" y="5229126"/>
            <a:ext cx="2076451" cy="438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713"/>
              </a:lnSpc>
            </a:pPr>
            <a:r>
              <a:rPr lang="en-US" sz="933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Saad Fettah · Boubker Cheyoukh</a:t>
            </a:r>
            <a:endParaRPr lang="en-US" sz="933" dirty="0"/>
          </a:p>
          <a:p>
            <a:pPr>
              <a:lnSpc>
                <a:spcPts val="1713"/>
              </a:lnSpc>
            </a:pPr>
            <a:r>
              <a:rPr lang="en-US" sz="933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Abderrazzak Elatmani · Mehdi Salek</a:t>
            </a:r>
            <a:endParaRPr lang="en-US" sz="933" dirty="0"/>
          </a:p>
        </p:txBody>
      </p:sp>
      <p:sp>
        <p:nvSpPr>
          <p:cNvPr id="12" name="Text 8"/>
          <p:cNvSpPr/>
          <p:nvPr/>
        </p:nvSpPr>
        <p:spPr>
          <a:xfrm>
            <a:off x="3174058" y="5024686"/>
            <a:ext cx="952500" cy="165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296"/>
              </a:lnSpc>
              <a:spcAft>
                <a:spcPts val="324"/>
              </a:spcAft>
            </a:pPr>
            <a:r>
              <a:rPr lang="en-US" sz="800" b="1" dirty="0">
                <a:solidFill>
                  <a:srgbClr val="F4A8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ENCADRÉ PAR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74058" y="5229126"/>
            <a:ext cx="1397943" cy="438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713"/>
              </a:lnSpc>
            </a:pPr>
            <a:r>
              <a:rPr lang="en-US" sz="1067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Bouhadou</a:t>
            </a:r>
            <a:endParaRPr lang="en-US" sz="1067" dirty="0"/>
          </a:p>
          <a:p>
            <a:pPr>
              <a:lnSpc>
                <a:spcPts val="1713"/>
              </a:lnSpc>
            </a:pPr>
            <a:r>
              <a:rPr lang="en-US" sz="1067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M.GILCHRIS</a:t>
            </a:r>
            <a:endParaRPr lang="en-US" sz="1067" dirty="0"/>
          </a:p>
        </p:txBody>
      </p:sp>
      <p:sp>
        <p:nvSpPr>
          <p:cNvPr id="14" name="Text 10"/>
          <p:cNvSpPr/>
          <p:nvPr/>
        </p:nvSpPr>
        <p:spPr>
          <a:xfrm>
            <a:off x="610841" y="6515944"/>
            <a:ext cx="5118100" cy="203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933" b="1" dirty="0">
                <a:solidFill>
                  <a:srgbClr val="FFFFFF"/>
                </a:solidFill>
                <a:highlight>
                  <a:srgbClr val="0A234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Année 2025 – 2026</a:t>
            </a:r>
            <a:endParaRPr lang="en-US" sz="933" dirty="0"/>
          </a:p>
        </p:txBody>
      </p:sp>
      <p:sp>
        <p:nvSpPr>
          <p:cNvPr id="17" name="Text 11"/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825010"/>
            <a:ext cx="12192000" cy="31749"/>
          </a:xfrm>
          <a:prstGeom prst="rect">
            <a:avLst/>
          </a:prstGeom>
        </p:spPr>
      </p:pic>
      <p:pic>
        <p:nvPicPr>
          <p:cNvPr id="19" name="Image 18" descr="Smart-city : La gestion intelligente des déchets - DigitalCorner">
            <a:extLst>
              <a:ext uri="{FF2B5EF4-FFF2-40B4-BE49-F238E27FC236}">
                <a16:creationId xmlns:a16="http://schemas.microsoft.com/office/drawing/2014/main" id="{ECE891F7-2152-1162-BD5D-EF123C2633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86" y="1646525"/>
            <a:ext cx="6370316" cy="3437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730647" y="410071"/>
            <a:ext cx="45593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0C896"/>
              </a:buClr>
              <a:buSzPts val="800"/>
            </a:pPr>
            <a:r>
              <a:rPr lang="en-US" sz="1067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PACTE – LIVRABLE 2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30647" y="700089"/>
            <a:ext cx="5757836" cy="73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2800"/>
            </a:pPr>
            <a:r>
              <a:rPr lang="en-US" sz="3733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Table des Matières</a:t>
            </a:r>
            <a:endParaRPr sz="37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729716" y="700089"/>
            <a:ext cx="730249" cy="730249"/>
          </a:xfrm>
          <a:prstGeom prst="roundRect">
            <a:avLst>
              <a:gd name="adj" fmla="val 23229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42" name="Google Shape;4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1979" y="882352"/>
            <a:ext cx="365720" cy="3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730846" y="1647330"/>
            <a:ext cx="5213349" cy="1155700"/>
          </a:xfrm>
          <a:prstGeom prst="roundRect">
            <a:avLst>
              <a:gd name="adj" fmla="val 13911"/>
            </a:avLst>
          </a:prstGeom>
          <a:solidFill>
            <a:srgbClr val="FFFFFF"/>
          </a:solidFill>
          <a:ln>
            <a:noFill/>
          </a:ln>
          <a:effectLst>
            <a:outerShdw blurRad="114300" dist="19050" dir="5400000" algn="bl" rotWithShape="0">
              <a:srgbClr val="0A2342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4" name="Google Shape;44;p4"/>
          <p:cNvSpPr/>
          <p:nvPr/>
        </p:nvSpPr>
        <p:spPr>
          <a:xfrm>
            <a:off x="1036240" y="1851521"/>
            <a:ext cx="609600" cy="609600"/>
          </a:xfrm>
          <a:prstGeom prst="roundRect">
            <a:avLst>
              <a:gd name="adj" fmla="val 833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00C896"/>
              </a:buClr>
              <a:buSzPts val="1500"/>
            </a:pPr>
            <a:r>
              <a:rPr lang="en-US" sz="2000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88033" y="1850282"/>
            <a:ext cx="2228851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1400"/>
            </a:pPr>
            <a:r>
              <a:rPr lang="en-US" sz="1867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888033" y="2259756"/>
            <a:ext cx="2228851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6B7280"/>
              </a:buClr>
              <a:buSzPts val="900"/>
            </a:pPr>
            <a:r>
              <a:rPr lang="en-US" sz="12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Contexte &amp; objectifs du projet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88331" y="2579043"/>
            <a:ext cx="368300" cy="19051"/>
          </a:xfrm>
          <a:prstGeom prst="roundRect">
            <a:avLst>
              <a:gd name="adj" fmla="val 79997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8" name="Google Shape;48;p4"/>
          <p:cNvSpPr/>
          <p:nvPr/>
        </p:nvSpPr>
        <p:spPr>
          <a:xfrm>
            <a:off x="6247806" y="1647330"/>
            <a:ext cx="5213349" cy="1155700"/>
          </a:xfrm>
          <a:prstGeom prst="roundRect">
            <a:avLst>
              <a:gd name="adj" fmla="val 13911"/>
            </a:avLst>
          </a:prstGeom>
          <a:solidFill>
            <a:srgbClr val="0A2342"/>
          </a:solidFill>
          <a:ln>
            <a:noFill/>
          </a:ln>
          <a:effectLst>
            <a:outerShdw blurRad="114300" dist="19050" dir="5400000" algn="bl" rotWithShape="0">
              <a:srgbClr val="0A2342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9" name="Google Shape;49;p4"/>
          <p:cNvSpPr/>
          <p:nvPr/>
        </p:nvSpPr>
        <p:spPr>
          <a:xfrm>
            <a:off x="6553200" y="1851521"/>
            <a:ext cx="609600" cy="609600"/>
          </a:xfrm>
          <a:prstGeom prst="roundRect">
            <a:avLst>
              <a:gd name="adj" fmla="val 833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0A2342"/>
              </a:buClr>
              <a:buSzPts val="1500"/>
            </a:pPr>
            <a:r>
              <a:rPr lang="en-US" sz="20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407424" y="1850282"/>
            <a:ext cx="2686051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1400"/>
            </a:pPr>
            <a:r>
              <a:rPr lang="en-US" sz="1867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Diagrammes</a:t>
            </a:r>
            <a:r>
              <a:rPr lang="en-US" sz="1867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UML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407424" y="2259756"/>
            <a:ext cx="2686051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FFFFFF"/>
              </a:buClr>
              <a:buSzPts val="900"/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 d'utilisation · Classes · Séquence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405291" y="2579043"/>
            <a:ext cx="368300" cy="19051"/>
          </a:xfrm>
          <a:prstGeom prst="roundRect">
            <a:avLst>
              <a:gd name="adj" fmla="val 79997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30846" y="3108969"/>
            <a:ext cx="5213349" cy="1397000"/>
          </a:xfrm>
          <a:prstGeom prst="roundRect">
            <a:avLst>
              <a:gd name="adj" fmla="val 9521"/>
            </a:avLst>
          </a:prstGeom>
          <a:solidFill>
            <a:srgbClr val="FFFFFF"/>
          </a:solidFill>
          <a:ln>
            <a:noFill/>
          </a:ln>
          <a:effectLst>
            <a:outerShdw blurRad="114300" dist="19050" dir="5400000" algn="bl" rotWithShape="0">
              <a:srgbClr val="0A2342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4" name="Google Shape;54;p4"/>
          <p:cNvSpPr/>
          <p:nvPr/>
        </p:nvSpPr>
        <p:spPr>
          <a:xfrm>
            <a:off x="1036240" y="3314997"/>
            <a:ext cx="609600" cy="609600"/>
          </a:xfrm>
          <a:prstGeom prst="roundRect">
            <a:avLst>
              <a:gd name="adj" fmla="val 833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0A2342"/>
              </a:buClr>
              <a:buSzPts val="1500"/>
            </a:pPr>
            <a:r>
              <a:rPr lang="en-US" sz="20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890961" y="3313758"/>
            <a:ext cx="37465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1400"/>
            </a:pPr>
            <a:r>
              <a:rPr lang="en-US" sz="1867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du Système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890961" y="3721397"/>
            <a:ext cx="37465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6B7280"/>
              </a:buClr>
              <a:buSzPts val="900"/>
            </a:pPr>
            <a:r>
              <a:rPr lang="en-US" sz="12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Hardware (EM310-UDL, LoRaWAN) &amp; Software (5 couches)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888331" y="4280148"/>
            <a:ext cx="368300" cy="19051"/>
          </a:xfrm>
          <a:prstGeom prst="roundRect">
            <a:avLst>
              <a:gd name="adj" fmla="val 799972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8" name="Google Shape;58;p4"/>
          <p:cNvSpPr/>
          <p:nvPr/>
        </p:nvSpPr>
        <p:spPr>
          <a:xfrm>
            <a:off x="6247806" y="3108969"/>
            <a:ext cx="5213349" cy="1397000"/>
          </a:xfrm>
          <a:prstGeom prst="roundRect">
            <a:avLst>
              <a:gd name="adj" fmla="val 9521"/>
            </a:avLst>
          </a:prstGeom>
          <a:solidFill>
            <a:srgbClr val="F4A823"/>
          </a:solidFill>
          <a:ln>
            <a:noFill/>
          </a:ln>
          <a:effectLst>
            <a:outerShdw blurRad="114300" dist="19050" dir="5400000" algn="bl" rotWithShape="0">
              <a:srgbClr val="F4A823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553200" y="3314997"/>
            <a:ext cx="609600" cy="609600"/>
          </a:xfrm>
          <a:prstGeom prst="roundRect">
            <a:avLst>
              <a:gd name="adj" fmla="val 833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F4A823"/>
              </a:buClr>
              <a:buSzPts val="1500"/>
            </a:pPr>
            <a:r>
              <a:rPr lang="en-US" sz="2000" b="1" dirty="0">
                <a:solidFill>
                  <a:srgbClr val="F4A823"/>
                </a:solidFill>
                <a:latin typeface="Cadman" panose="020B0803020202020004" pitchFamily="34" charset="0"/>
                <a:ea typeface="Poppins"/>
                <a:cs typeface="Poppins"/>
                <a:sym typeface="Poppins"/>
              </a:rPr>
              <a:t>IV</a:t>
            </a:r>
            <a:endParaRPr sz="2000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405093" y="3313758"/>
            <a:ext cx="3799201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0A2342"/>
              </a:buClr>
              <a:buSzPts val="900"/>
            </a:pPr>
            <a:r>
              <a:rPr lang="en-US" sz="2000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Réalisation</a:t>
            </a:r>
            <a:r>
              <a:rPr lang="en-US" sz="2000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&amp; </a:t>
            </a:r>
            <a:r>
              <a:rPr lang="en-US" sz="2000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Prototypage</a:t>
            </a:r>
            <a:endParaRPr lang="en-US" sz="2000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405092" y="3723233"/>
            <a:ext cx="4054872" cy="27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1067" b="1" dirty="0" err="1"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Wokwi</a:t>
            </a:r>
            <a:r>
              <a:rPr lang="en-US" sz="1067" b="1" dirty="0"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· </a:t>
            </a:r>
            <a:r>
              <a:rPr lang="en-US" sz="1067" b="1" dirty="0" err="1"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ThingSpeak</a:t>
            </a:r>
            <a:r>
              <a:rPr lang="en-US" sz="1067" b="1" dirty="0"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· Application React.js</a:t>
            </a:r>
            <a:endParaRPr lang="en-US" sz="1067" b="1" dirty="0"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405291" y="4042519"/>
            <a:ext cx="368300" cy="19051"/>
          </a:xfrm>
          <a:prstGeom prst="roundRect">
            <a:avLst>
              <a:gd name="adj" fmla="val 799972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63" name="Google Shape;6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E5D117D4-47C0-D621-74F2-EDF95384F888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sp>
        <p:nvSpPr>
          <p:cNvPr id="11" name="Google Shape;43;p4">
            <a:extLst>
              <a:ext uri="{FF2B5EF4-FFF2-40B4-BE49-F238E27FC236}">
                <a16:creationId xmlns:a16="http://schemas.microsoft.com/office/drawing/2014/main" id="{C672EE57-7508-3EA3-2924-AEDAD5CFDC98}"/>
              </a:ext>
            </a:extLst>
          </p:cNvPr>
          <p:cNvSpPr/>
          <p:nvPr/>
        </p:nvSpPr>
        <p:spPr>
          <a:xfrm>
            <a:off x="6247806" y="4898615"/>
            <a:ext cx="5213349" cy="1155700"/>
          </a:xfrm>
          <a:prstGeom prst="roundRect">
            <a:avLst>
              <a:gd name="adj" fmla="val 13911"/>
            </a:avLst>
          </a:prstGeom>
          <a:solidFill>
            <a:srgbClr val="FFFFFF"/>
          </a:solidFill>
          <a:ln>
            <a:noFill/>
          </a:ln>
          <a:effectLst>
            <a:outerShdw blurRad="114300" dist="19050" dir="5400000" algn="bl" rotWithShape="0">
              <a:srgbClr val="0A2342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44;p4">
            <a:extLst>
              <a:ext uri="{FF2B5EF4-FFF2-40B4-BE49-F238E27FC236}">
                <a16:creationId xmlns:a16="http://schemas.microsoft.com/office/drawing/2014/main" id="{8AEBD101-80E9-3D33-D596-3B925406DCB0}"/>
              </a:ext>
            </a:extLst>
          </p:cNvPr>
          <p:cNvSpPr/>
          <p:nvPr/>
        </p:nvSpPr>
        <p:spPr>
          <a:xfrm>
            <a:off x="6553200" y="5102807"/>
            <a:ext cx="609600" cy="609600"/>
          </a:xfrm>
          <a:prstGeom prst="roundRect">
            <a:avLst>
              <a:gd name="adj" fmla="val 833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00C896"/>
              </a:buClr>
              <a:buSzPts val="1500"/>
            </a:pPr>
            <a:r>
              <a:rPr lang="en-US" sz="2000" b="1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VI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45;p4">
            <a:extLst>
              <a:ext uri="{FF2B5EF4-FFF2-40B4-BE49-F238E27FC236}">
                <a16:creationId xmlns:a16="http://schemas.microsoft.com/office/drawing/2014/main" id="{99D01E76-C677-C963-18B4-B345A53F7AF7}"/>
              </a:ext>
            </a:extLst>
          </p:cNvPr>
          <p:cNvSpPr/>
          <p:nvPr/>
        </p:nvSpPr>
        <p:spPr>
          <a:xfrm>
            <a:off x="7404993" y="5035651"/>
            <a:ext cx="2228851" cy="43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4285"/>
              </a:lnSpc>
              <a:buClr>
                <a:srgbClr val="0A2342"/>
              </a:buClr>
              <a:buSzPts val="1400"/>
            </a:pPr>
            <a:r>
              <a:rPr lang="en-US" sz="24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46;p4">
            <a:extLst>
              <a:ext uri="{FF2B5EF4-FFF2-40B4-BE49-F238E27FC236}">
                <a16:creationId xmlns:a16="http://schemas.microsoft.com/office/drawing/2014/main" id="{4F305828-1379-875C-E8B0-84742767F0E6}"/>
              </a:ext>
            </a:extLst>
          </p:cNvPr>
          <p:cNvSpPr/>
          <p:nvPr/>
        </p:nvSpPr>
        <p:spPr>
          <a:xfrm>
            <a:off x="7404994" y="5511042"/>
            <a:ext cx="3020837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6000"/>
              </a:lnSpc>
              <a:buClr>
                <a:srgbClr val="6B7280"/>
              </a:buClr>
              <a:buSzPts val="900"/>
            </a:pPr>
            <a:r>
              <a:rPr lang="en-US" sz="1200" dirty="0" err="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Synthèse</a:t>
            </a:r>
            <a:r>
              <a:rPr lang="en-US" sz="1200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 &amp; perspectives futures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47;p4">
            <a:extLst>
              <a:ext uri="{FF2B5EF4-FFF2-40B4-BE49-F238E27FC236}">
                <a16:creationId xmlns:a16="http://schemas.microsoft.com/office/drawing/2014/main" id="{EACC0A42-5527-F2DA-488F-B439E6C58277}"/>
              </a:ext>
            </a:extLst>
          </p:cNvPr>
          <p:cNvSpPr/>
          <p:nvPr/>
        </p:nvSpPr>
        <p:spPr>
          <a:xfrm>
            <a:off x="7405291" y="5830328"/>
            <a:ext cx="368300" cy="19051"/>
          </a:xfrm>
          <a:prstGeom prst="roundRect">
            <a:avLst>
              <a:gd name="adj" fmla="val 79997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58;p4">
            <a:extLst>
              <a:ext uri="{FF2B5EF4-FFF2-40B4-BE49-F238E27FC236}">
                <a16:creationId xmlns:a16="http://schemas.microsoft.com/office/drawing/2014/main" id="{DAED2278-693B-DB04-B725-AF749D0AEC8B}"/>
              </a:ext>
            </a:extLst>
          </p:cNvPr>
          <p:cNvSpPr/>
          <p:nvPr/>
        </p:nvSpPr>
        <p:spPr>
          <a:xfrm>
            <a:off x="730647" y="4897290"/>
            <a:ext cx="5213349" cy="1155700"/>
          </a:xfrm>
          <a:prstGeom prst="roundRect">
            <a:avLst>
              <a:gd name="adj" fmla="val 9521"/>
            </a:avLst>
          </a:prstGeom>
          <a:solidFill>
            <a:srgbClr val="F4A823"/>
          </a:solidFill>
          <a:ln>
            <a:noFill/>
          </a:ln>
          <a:effectLst>
            <a:outerShdw blurRad="114300" dist="19050" dir="5400000" algn="bl" rotWithShape="0">
              <a:srgbClr val="F4A823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" name="Google Shape;59;p4">
            <a:extLst>
              <a:ext uri="{FF2B5EF4-FFF2-40B4-BE49-F238E27FC236}">
                <a16:creationId xmlns:a16="http://schemas.microsoft.com/office/drawing/2014/main" id="{A04C5939-69D8-6707-92CC-27600F9CC0E0}"/>
              </a:ext>
            </a:extLst>
          </p:cNvPr>
          <p:cNvSpPr/>
          <p:nvPr/>
        </p:nvSpPr>
        <p:spPr>
          <a:xfrm>
            <a:off x="1036041" y="5103318"/>
            <a:ext cx="609600" cy="516693"/>
          </a:xfrm>
          <a:prstGeom prst="roundRect">
            <a:avLst>
              <a:gd name="adj" fmla="val 8333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8400"/>
              </a:lnSpc>
              <a:buClr>
                <a:srgbClr val="F4A823"/>
              </a:buClr>
              <a:buSzPts val="1500"/>
            </a:pPr>
            <a:r>
              <a:rPr lang="en-US" sz="2000" b="1" dirty="0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60;p4">
            <a:extLst>
              <a:ext uri="{FF2B5EF4-FFF2-40B4-BE49-F238E27FC236}">
                <a16:creationId xmlns:a16="http://schemas.microsoft.com/office/drawing/2014/main" id="{956489BF-4082-5CAB-AD48-4D3DBE3A8BD3}"/>
              </a:ext>
            </a:extLst>
          </p:cNvPr>
          <p:cNvSpPr/>
          <p:nvPr/>
        </p:nvSpPr>
        <p:spPr>
          <a:xfrm>
            <a:off x="1887934" y="5035652"/>
            <a:ext cx="4117678" cy="31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4285"/>
              </a:lnSpc>
              <a:buClr>
                <a:srgbClr val="0A2342"/>
              </a:buClr>
              <a:buSzPts val="1400"/>
            </a:pPr>
            <a:r>
              <a:rPr lang="en-US" sz="2400" b="1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Avantages</a:t>
            </a:r>
            <a:r>
              <a:rPr lang="en-US" sz="24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 &amp; Impact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61;p4">
            <a:extLst>
              <a:ext uri="{FF2B5EF4-FFF2-40B4-BE49-F238E27FC236}">
                <a16:creationId xmlns:a16="http://schemas.microsoft.com/office/drawing/2014/main" id="{607E16EC-417A-D2E6-094D-76E1E96086A7}"/>
              </a:ext>
            </a:extLst>
          </p:cNvPr>
          <p:cNvSpPr/>
          <p:nvPr/>
        </p:nvSpPr>
        <p:spPr>
          <a:xfrm>
            <a:off x="1887934" y="5511554"/>
            <a:ext cx="3276965" cy="23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6000"/>
              </a:lnSpc>
              <a:buClr>
                <a:srgbClr val="0A2342"/>
              </a:buClr>
              <a:buSzPts val="900"/>
            </a:pPr>
            <a:r>
              <a:rPr lang="en-US" sz="1200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Économique • </a:t>
            </a:r>
            <a:r>
              <a:rPr lang="en-US" sz="1200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Environnemental</a:t>
            </a:r>
            <a:r>
              <a:rPr lang="en-US" sz="1200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 • Urbain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2;p4">
            <a:extLst>
              <a:ext uri="{FF2B5EF4-FFF2-40B4-BE49-F238E27FC236}">
                <a16:creationId xmlns:a16="http://schemas.microsoft.com/office/drawing/2014/main" id="{A97FC8B3-B273-08C4-023D-8082649B64B3}"/>
              </a:ext>
            </a:extLst>
          </p:cNvPr>
          <p:cNvSpPr/>
          <p:nvPr/>
        </p:nvSpPr>
        <p:spPr>
          <a:xfrm>
            <a:off x="1888133" y="5830838"/>
            <a:ext cx="368300" cy="60959"/>
          </a:xfrm>
          <a:prstGeom prst="roundRect">
            <a:avLst>
              <a:gd name="adj" fmla="val 799972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0" name="Google Shape;70;p5"/>
          <p:cNvSpPr/>
          <p:nvPr/>
        </p:nvSpPr>
        <p:spPr>
          <a:xfrm>
            <a:off x="-1463040" y="-1463040"/>
            <a:ext cx="4876800" cy="48768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1" name="Google Shape;71;p5"/>
          <p:cNvSpPr/>
          <p:nvPr/>
        </p:nvSpPr>
        <p:spPr>
          <a:xfrm>
            <a:off x="9265920" y="3931920"/>
            <a:ext cx="3657600" cy="36576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0"/>
            <a:ext cx="12192000" cy="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4073526" y="3534271"/>
            <a:ext cx="40449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2000"/>
              </a:lnSpc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073526" y="3823692"/>
            <a:ext cx="40449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FFFFFF"/>
              </a:buClr>
              <a:buSzPts val="3600"/>
            </a:pPr>
            <a:r>
              <a:rPr lang="en-US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730876" y="4571405"/>
            <a:ext cx="730249" cy="25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" name="Google Shape;77;p5"/>
          <p:cNvSpPr/>
          <p:nvPr/>
        </p:nvSpPr>
        <p:spPr>
          <a:xfrm>
            <a:off x="4073526" y="4735909"/>
            <a:ext cx="4044949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1200"/>
              </a:lnSpc>
              <a:buClr>
                <a:srgbClr val="FFFFFF"/>
              </a:buClr>
              <a:buSzPts val="1000"/>
            </a:pPr>
            <a:r>
              <a:rPr lang="en-US" sz="13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Contexte &amp; objectifs du projet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0742" y="6468815"/>
            <a:ext cx="2044700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700"/>
            </a:pPr>
            <a:r>
              <a:rPr lang="en-US" sz="933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02041"/>
            <a:ext cx="12192000" cy="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A2342"/>
              </a:buClr>
              <a:buSzPts val="3600"/>
            </a:pPr>
            <a:r>
              <a:rPr lang="en-US" sz="48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9AF90600-CC0A-2953-8848-D03A95E92274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83939" y="1750954"/>
            <a:ext cx="12192000" cy="5065972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70" name="Google Shape;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0" y="0"/>
            <a:ext cx="825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610741" y="341709"/>
            <a:ext cx="1797051" cy="29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 dirty="0">
                <a:highlight>
                  <a:srgbClr val="00C896"/>
                </a:highlight>
                <a:latin typeface="Poppins"/>
                <a:ea typeface="Poppins"/>
                <a:cs typeface="Poppins"/>
                <a:sym typeface="Poppins"/>
              </a:rPr>
              <a:t>I. INTRODUCTION</a:t>
            </a:r>
            <a:endParaRPr sz="9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451382" y="2335664"/>
            <a:ext cx="9457113" cy="2867964"/>
          </a:xfrm>
          <a:prstGeom prst="roundRect">
            <a:avLst>
              <a:gd name="adj" fmla="val 2837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4A823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3" name="Google Shape;83;p5"/>
          <p:cNvSpPr/>
          <p:nvPr/>
        </p:nvSpPr>
        <p:spPr>
          <a:xfrm>
            <a:off x="2574986" y="2574176"/>
            <a:ext cx="7427422" cy="2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9000"/>
              </a:lnSpc>
              <a:buClr>
                <a:srgbClr val="FFFFFF"/>
              </a:buClr>
              <a:buSzPts val="900"/>
            </a:pPr>
            <a:r>
              <a:rPr lang="fr-FR" sz="2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gestion traditionnelle des déchets manque </a:t>
            </a:r>
            <a:r>
              <a:rPr lang="fr-FR" sz="2400" b="1" dirty="0">
                <a:solidFill>
                  <a:srgbClr val="FFC000"/>
                </a:solidFill>
                <a:latin typeface="DM Sans"/>
                <a:ea typeface="DM Sans"/>
                <a:cs typeface="DM Sans"/>
                <a:sym typeface="DM Sans"/>
              </a:rPr>
              <a:t>d’efficacité</a:t>
            </a:r>
            <a:r>
              <a:rPr lang="fr-FR" sz="2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avec des tournées 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fixes</a:t>
            </a:r>
            <a:r>
              <a:rPr lang="fr-FR" sz="2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qui entraînent souvent des poubelles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débordantes</a:t>
            </a:r>
            <a:r>
              <a:rPr lang="fr-FR" sz="2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ou des collectes </a:t>
            </a:r>
            <a:r>
              <a:rPr lang="fr-FR" sz="24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inutiles</a:t>
            </a:r>
            <a:r>
              <a:rPr lang="fr-FR" sz="2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46B8DCC4-EB54-C715-F3BF-E9631606D057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467" y="-8467"/>
            <a:ext cx="12208933" cy="931333"/>
            <a:chOff x="-6350" y="-6350"/>
            <a:chExt cx="9156700" cy="698500"/>
          </a:xfrm>
          <a:solidFill>
            <a:srgbClr val="0070C0"/>
          </a:solidFill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685800"/>
                  </a:moveTo>
                  <a:lnTo>
                    <a:pt x="0" y="6858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6858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0"/>
                  </a:moveTo>
                  <a:lnTo>
                    <a:pt x="9144000" y="0"/>
                  </a:lnTo>
                  <a:lnTo>
                    <a:pt x="91440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rgbClr val="B71C1C"/>
              </a:solidFill>
            </a:ln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667" y="92757"/>
            <a:ext cx="57827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solidFill>
                  <a:srgbClr val="FFFFFF"/>
                </a:solidFill>
              </a:rPr>
              <a:t>PROBLÉMATIQUE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" y="1066800"/>
            <a:ext cx="5249333" cy="5604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6719" y="1219201"/>
            <a:ext cx="4876800" cy="506122"/>
          </a:xfrm>
          <a:prstGeom prst="rect">
            <a:avLst/>
          </a:prstGeom>
          <a:solidFill>
            <a:schemeClr val="tx2"/>
          </a:solidFill>
          <a:ln w="12700">
            <a:solidFill>
              <a:srgbClr val="1565C0"/>
            </a:solidFill>
          </a:ln>
        </p:spPr>
        <p:txBody>
          <a:bodyPr vert="horz" wrap="square" lIns="0" tIns="196427" rIns="0" bIns="0" rtlCol="0">
            <a:spAutoFit/>
          </a:bodyPr>
          <a:lstStyle/>
          <a:p>
            <a:pPr marL="1233561">
              <a:spcBef>
                <a:spcPts val="1547"/>
              </a:spcBef>
            </a:pPr>
            <a:r>
              <a:rPr sz="2000" b="1" spc="-13" dirty="0">
                <a:solidFill>
                  <a:srgbClr val="FFFFFF"/>
                </a:solidFill>
                <a:latin typeface="Calibri"/>
                <a:cs typeface="Calibri"/>
              </a:rPr>
              <a:t>Systèmes</a:t>
            </a:r>
            <a:r>
              <a:rPr sz="2000" b="1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3" dirty="0">
                <a:solidFill>
                  <a:srgbClr val="FFFFFF"/>
                </a:solidFill>
                <a:latin typeface="Calibri"/>
                <a:cs typeface="Calibri"/>
              </a:rPr>
              <a:t>Traditionnels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560" y="2133601"/>
            <a:ext cx="4389120" cy="430032"/>
          </a:xfrm>
          <a:prstGeom prst="rect">
            <a:avLst/>
          </a:prstGeom>
          <a:solidFill>
            <a:srgbClr val="C62828">
              <a:alpha val="79998"/>
            </a:srgbClr>
          </a:solidFill>
          <a:ln w="12700">
            <a:solidFill>
              <a:srgbClr val="EF9A9A"/>
            </a:solidFill>
          </a:ln>
        </p:spPr>
        <p:txBody>
          <a:bodyPr vert="horz" wrap="square" lIns="0" tIns="182033" rIns="0" bIns="0" rtlCol="0">
            <a:spAutoFit/>
          </a:bodyPr>
          <a:lstStyle/>
          <a:p>
            <a:pPr marL="135463">
              <a:spcBef>
                <a:spcPts val="1433"/>
              </a:spcBef>
            </a:pPr>
            <a:r>
              <a:rPr sz="1600" dirty="0">
                <a:solidFill>
                  <a:srgbClr val="FFFFFF"/>
                </a:solidFill>
                <a:latin typeface="Segoe UI Emoji"/>
                <a:cs typeface="Segoe UI Emoji"/>
              </a:rPr>
              <a:t>✗</a:t>
            </a:r>
            <a:r>
              <a:rPr sz="1600" spc="193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Débordement</a:t>
            </a:r>
            <a:r>
              <a:rPr sz="1600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fréquent</a:t>
            </a:r>
            <a:r>
              <a:rPr sz="1600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poubelles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560" y="2889503"/>
            <a:ext cx="4389120" cy="430032"/>
          </a:xfrm>
          <a:prstGeom prst="rect">
            <a:avLst/>
          </a:prstGeom>
          <a:solidFill>
            <a:srgbClr val="C62828">
              <a:alpha val="79998"/>
            </a:srgbClr>
          </a:solidFill>
          <a:ln w="12700">
            <a:solidFill>
              <a:srgbClr val="EF9A9A"/>
            </a:solidFill>
          </a:ln>
        </p:spPr>
        <p:txBody>
          <a:bodyPr vert="horz" wrap="square" lIns="0" tIns="182033" rIns="0" bIns="0" rtlCol="0">
            <a:spAutoFit/>
          </a:bodyPr>
          <a:lstStyle/>
          <a:p>
            <a:pPr marL="135463">
              <a:spcBef>
                <a:spcPts val="1433"/>
              </a:spcBef>
            </a:pPr>
            <a:r>
              <a:rPr sz="1600" dirty="0">
                <a:solidFill>
                  <a:srgbClr val="FFFFFF"/>
                </a:solidFill>
                <a:latin typeface="Segoe UI Emoji"/>
                <a:cs typeface="Segoe UI Emoji"/>
              </a:rPr>
              <a:t>✗</a:t>
            </a:r>
            <a:r>
              <a:rPr sz="1600" spc="220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Collecte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non</a:t>
            </a:r>
            <a:r>
              <a:rPr sz="1600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optimisée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560" y="3645407"/>
            <a:ext cx="4389120" cy="430032"/>
          </a:xfrm>
          <a:prstGeom prst="rect">
            <a:avLst/>
          </a:prstGeom>
          <a:solidFill>
            <a:srgbClr val="C62828">
              <a:alpha val="79998"/>
            </a:srgbClr>
          </a:solidFill>
          <a:ln w="12700">
            <a:solidFill>
              <a:srgbClr val="EF9A9A"/>
            </a:solidFill>
          </a:ln>
        </p:spPr>
        <p:txBody>
          <a:bodyPr vert="horz" wrap="square" lIns="0" tIns="182033" rIns="0" bIns="0" rtlCol="0">
            <a:spAutoFit/>
          </a:bodyPr>
          <a:lstStyle/>
          <a:p>
            <a:pPr marL="135463">
              <a:spcBef>
                <a:spcPts val="1433"/>
              </a:spcBef>
            </a:pPr>
            <a:r>
              <a:rPr sz="1600" dirty="0">
                <a:solidFill>
                  <a:srgbClr val="FFFFFF"/>
                </a:solidFill>
                <a:latin typeface="Segoe UI Emoji"/>
                <a:cs typeface="Segoe UI Emoji"/>
              </a:rPr>
              <a:t>✗</a:t>
            </a:r>
            <a:r>
              <a:rPr sz="1600" spc="267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Coûts</a:t>
            </a:r>
            <a:r>
              <a:rPr sz="1600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opérationnels</a:t>
            </a:r>
            <a:r>
              <a:rPr sz="1600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élevés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560" y="4401312"/>
            <a:ext cx="4389120" cy="430032"/>
          </a:xfrm>
          <a:prstGeom prst="rect">
            <a:avLst/>
          </a:prstGeom>
          <a:solidFill>
            <a:srgbClr val="C62828">
              <a:alpha val="79998"/>
            </a:srgbClr>
          </a:solidFill>
          <a:ln w="12700">
            <a:solidFill>
              <a:srgbClr val="EF9A9A"/>
            </a:solidFill>
          </a:ln>
        </p:spPr>
        <p:txBody>
          <a:bodyPr vert="horz" wrap="square" lIns="0" tIns="182033" rIns="0" bIns="0" rtlCol="0">
            <a:spAutoFit/>
          </a:bodyPr>
          <a:lstStyle/>
          <a:p>
            <a:pPr marL="135463">
              <a:spcBef>
                <a:spcPts val="1433"/>
              </a:spcBef>
            </a:pPr>
            <a:r>
              <a:rPr sz="1600" dirty="0">
                <a:solidFill>
                  <a:srgbClr val="FFFFFF"/>
                </a:solidFill>
                <a:latin typeface="Segoe UI Emoji"/>
                <a:cs typeface="Segoe UI Emoji"/>
              </a:rPr>
              <a:t>✗</a:t>
            </a:r>
            <a:r>
              <a:rPr sz="1600" spc="227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Gaspillage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carburant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560" y="5157215"/>
            <a:ext cx="4389120" cy="430032"/>
          </a:xfrm>
          <a:prstGeom prst="rect">
            <a:avLst/>
          </a:prstGeom>
          <a:solidFill>
            <a:srgbClr val="C62828">
              <a:alpha val="79998"/>
            </a:srgbClr>
          </a:solidFill>
          <a:ln w="12700">
            <a:solidFill>
              <a:srgbClr val="EF9A9A"/>
            </a:solidFill>
          </a:ln>
        </p:spPr>
        <p:txBody>
          <a:bodyPr vert="horz" wrap="square" lIns="0" tIns="182033" rIns="0" bIns="0" rtlCol="0">
            <a:spAutoFit/>
          </a:bodyPr>
          <a:lstStyle/>
          <a:p>
            <a:pPr marL="135463">
              <a:spcBef>
                <a:spcPts val="1433"/>
              </a:spcBef>
            </a:pPr>
            <a:r>
              <a:rPr sz="1600" dirty="0">
                <a:solidFill>
                  <a:srgbClr val="FFFFFF"/>
                </a:solidFill>
                <a:latin typeface="Segoe UI Emoji"/>
                <a:cs typeface="Segoe UI Emoji"/>
              </a:rPr>
              <a:t>✗</a:t>
            </a:r>
            <a:r>
              <a:rPr sz="1600" spc="287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1600" spc="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environnemental</a:t>
            </a:r>
            <a:r>
              <a:rPr sz="1600" spc="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Calibri"/>
                <a:cs typeface="Calibri"/>
              </a:rPr>
              <a:t>négatif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40587" y="3483186"/>
            <a:ext cx="853440" cy="76200"/>
          </a:xfrm>
          <a:custGeom>
            <a:avLst/>
            <a:gdLst/>
            <a:ahLst/>
            <a:cxnLst/>
            <a:rect l="l" t="t" r="r" b="b"/>
            <a:pathLst>
              <a:path w="640079">
                <a:moveTo>
                  <a:pt x="0" y="0"/>
                </a:moveTo>
                <a:lnTo>
                  <a:pt x="640079" y="0"/>
                </a:lnTo>
              </a:path>
            </a:pathLst>
          </a:custGeom>
          <a:ln w="38100">
            <a:solidFill>
              <a:srgbClr val="EF9A9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6322907" y="3232913"/>
            <a:ext cx="20320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67" dirty="0">
                <a:solidFill>
                  <a:srgbClr val="EF9A9A"/>
                </a:solidFill>
                <a:latin typeface="MS Gothic"/>
                <a:cs typeface="MS Gothic"/>
              </a:rPr>
              <a:t>▶</a:t>
            </a:r>
            <a:endParaRPr sz="2667">
              <a:latin typeface="MS Gothic"/>
              <a:cs typeface="MS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04000" y="1066800"/>
            <a:ext cx="5300133" cy="5604933"/>
            <a:chOff x="4953000" y="800100"/>
            <a:chExt cx="3975100" cy="42037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0" y="800100"/>
              <a:ext cx="3975100" cy="4203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20640" y="914400"/>
              <a:ext cx="3703320" cy="3931920"/>
            </a:xfrm>
            <a:custGeom>
              <a:avLst/>
              <a:gdLst/>
              <a:ahLst/>
              <a:cxnLst/>
              <a:rect l="l" t="t" r="r" b="b"/>
              <a:pathLst>
                <a:path w="3703320" h="3931920">
                  <a:moveTo>
                    <a:pt x="3703319" y="3931920"/>
                  </a:moveTo>
                  <a:lnTo>
                    <a:pt x="0" y="3931920"/>
                  </a:lnTo>
                  <a:lnTo>
                    <a:pt x="0" y="0"/>
                  </a:lnTo>
                  <a:lnTo>
                    <a:pt x="3703319" y="0"/>
                  </a:lnTo>
                  <a:lnTo>
                    <a:pt x="3703319" y="3931920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0800" y="1485900"/>
              <a:ext cx="3606800" cy="8636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94959" y="1600199"/>
              <a:ext cx="3246120" cy="594360"/>
            </a:xfrm>
            <a:custGeom>
              <a:avLst/>
              <a:gdLst/>
              <a:ahLst/>
              <a:cxnLst/>
              <a:rect l="l" t="t" r="r" b="b"/>
              <a:pathLst>
                <a:path w="3246120" h="594360">
                  <a:moveTo>
                    <a:pt x="0" y="594359"/>
                  </a:moveTo>
                  <a:lnTo>
                    <a:pt x="3246119" y="594359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594359"/>
                  </a:lnTo>
                  <a:close/>
                </a:path>
              </a:pathLst>
            </a:custGeom>
            <a:solidFill>
              <a:srgbClr val="0A16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5303520" y="1600199"/>
              <a:ext cx="3337560" cy="594360"/>
            </a:xfrm>
            <a:custGeom>
              <a:avLst/>
              <a:gdLst/>
              <a:ahLst/>
              <a:cxnLst/>
              <a:rect l="l" t="t" r="r" b="b"/>
              <a:pathLst>
                <a:path w="3337559" h="594360">
                  <a:moveTo>
                    <a:pt x="0" y="0"/>
                  </a:moveTo>
                  <a:lnTo>
                    <a:pt x="3337559" y="0"/>
                  </a:lnTo>
                  <a:lnTo>
                    <a:pt x="333755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303520" y="1600199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91439" y="594359"/>
                  </a:moveTo>
                  <a:lnTo>
                    <a:pt x="0" y="594359"/>
                  </a:lnTo>
                  <a:lnTo>
                    <a:pt x="0" y="0"/>
                  </a:lnTo>
                  <a:lnTo>
                    <a:pt x="91439" y="0"/>
                  </a:lnTo>
                  <a:lnTo>
                    <a:pt x="91439" y="594359"/>
                  </a:lnTo>
                  <a:close/>
                </a:path>
              </a:pathLst>
            </a:custGeom>
            <a:solidFill>
              <a:srgbClr val="EF9A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303520" y="1600199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0" y="0"/>
                  </a:moveTo>
                  <a:lnTo>
                    <a:pt x="91439" y="0"/>
                  </a:lnTo>
                  <a:lnTo>
                    <a:pt x="9143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F9A9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0800" y="2184400"/>
              <a:ext cx="3606800" cy="863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94959" y="2304288"/>
              <a:ext cx="3246120" cy="594360"/>
            </a:xfrm>
            <a:custGeom>
              <a:avLst/>
              <a:gdLst/>
              <a:ahLst/>
              <a:cxnLst/>
              <a:rect l="l" t="t" r="r" b="b"/>
              <a:pathLst>
                <a:path w="3246120" h="594360">
                  <a:moveTo>
                    <a:pt x="0" y="594360"/>
                  </a:moveTo>
                  <a:lnTo>
                    <a:pt x="3246119" y="594360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594360"/>
                  </a:lnTo>
                  <a:close/>
                </a:path>
              </a:pathLst>
            </a:custGeom>
            <a:solidFill>
              <a:srgbClr val="0A16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303520" y="2304288"/>
              <a:ext cx="3337560" cy="594360"/>
            </a:xfrm>
            <a:custGeom>
              <a:avLst/>
              <a:gdLst/>
              <a:ahLst/>
              <a:cxnLst/>
              <a:rect l="l" t="t" r="r" b="b"/>
              <a:pathLst>
                <a:path w="3337559" h="594360">
                  <a:moveTo>
                    <a:pt x="0" y="0"/>
                  </a:moveTo>
                  <a:lnTo>
                    <a:pt x="3337559" y="0"/>
                  </a:lnTo>
                  <a:lnTo>
                    <a:pt x="3337559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2304288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91439" y="594360"/>
                  </a:moveTo>
                  <a:lnTo>
                    <a:pt x="0" y="594360"/>
                  </a:lnTo>
                  <a:lnTo>
                    <a:pt x="0" y="0"/>
                  </a:lnTo>
                  <a:lnTo>
                    <a:pt x="91439" y="0"/>
                  </a:lnTo>
                  <a:lnTo>
                    <a:pt x="91439" y="594360"/>
                  </a:lnTo>
                  <a:close/>
                </a:path>
              </a:pathLst>
            </a:custGeom>
            <a:solidFill>
              <a:srgbClr val="EF9A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2304288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0" y="0"/>
                  </a:moveTo>
                  <a:lnTo>
                    <a:pt x="91439" y="0"/>
                  </a:lnTo>
                  <a:lnTo>
                    <a:pt x="91439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F9A9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0800" y="2895600"/>
              <a:ext cx="3606800" cy="863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94959" y="3008376"/>
              <a:ext cx="3246120" cy="594360"/>
            </a:xfrm>
            <a:custGeom>
              <a:avLst/>
              <a:gdLst/>
              <a:ahLst/>
              <a:cxnLst/>
              <a:rect l="l" t="t" r="r" b="b"/>
              <a:pathLst>
                <a:path w="3246120" h="594360">
                  <a:moveTo>
                    <a:pt x="0" y="594359"/>
                  </a:moveTo>
                  <a:lnTo>
                    <a:pt x="3246119" y="594359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594359"/>
                  </a:lnTo>
                  <a:close/>
                </a:path>
              </a:pathLst>
            </a:custGeom>
            <a:solidFill>
              <a:srgbClr val="0A16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303520" y="3008376"/>
              <a:ext cx="3337560" cy="594360"/>
            </a:xfrm>
            <a:custGeom>
              <a:avLst/>
              <a:gdLst/>
              <a:ahLst/>
              <a:cxnLst/>
              <a:rect l="l" t="t" r="r" b="b"/>
              <a:pathLst>
                <a:path w="3337559" h="594360">
                  <a:moveTo>
                    <a:pt x="0" y="0"/>
                  </a:moveTo>
                  <a:lnTo>
                    <a:pt x="3337559" y="0"/>
                  </a:lnTo>
                  <a:lnTo>
                    <a:pt x="333755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303520" y="3008376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91439" y="594359"/>
                  </a:moveTo>
                  <a:lnTo>
                    <a:pt x="0" y="594359"/>
                  </a:lnTo>
                  <a:lnTo>
                    <a:pt x="0" y="0"/>
                  </a:lnTo>
                  <a:lnTo>
                    <a:pt x="91439" y="0"/>
                  </a:lnTo>
                  <a:lnTo>
                    <a:pt x="91439" y="594359"/>
                  </a:lnTo>
                  <a:close/>
                </a:path>
              </a:pathLst>
            </a:custGeom>
            <a:solidFill>
              <a:srgbClr val="EF9A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303520" y="3008376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0" y="0"/>
                  </a:moveTo>
                  <a:lnTo>
                    <a:pt x="91439" y="0"/>
                  </a:lnTo>
                  <a:lnTo>
                    <a:pt x="9143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F9A9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0800" y="3594100"/>
              <a:ext cx="3606800" cy="8636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94959" y="3712464"/>
              <a:ext cx="3246120" cy="594360"/>
            </a:xfrm>
            <a:custGeom>
              <a:avLst/>
              <a:gdLst/>
              <a:ahLst/>
              <a:cxnLst/>
              <a:rect l="l" t="t" r="r" b="b"/>
              <a:pathLst>
                <a:path w="3246120" h="594360">
                  <a:moveTo>
                    <a:pt x="0" y="594359"/>
                  </a:moveTo>
                  <a:lnTo>
                    <a:pt x="3246119" y="594359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594359"/>
                  </a:lnTo>
                  <a:close/>
                </a:path>
              </a:pathLst>
            </a:custGeom>
            <a:solidFill>
              <a:srgbClr val="0A16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303520" y="3712464"/>
              <a:ext cx="3337560" cy="594360"/>
            </a:xfrm>
            <a:custGeom>
              <a:avLst/>
              <a:gdLst/>
              <a:ahLst/>
              <a:cxnLst/>
              <a:rect l="l" t="t" r="r" b="b"/>
              <a:pathLst>
                <a:path w="3337559" h="594360">
                  <a:moveTo>
                    <a:pt x="0" y="0"/>
                  </a:moveTo>
                  <a:lnTo>
                    <a:pt x="3337559" y="0"/>
                  </a:lnTo>
                  <a:lnTo>
                    <a:pt x="333755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303520" y="3712464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91439" y="594359"/>
                  </a:moveTo>
                  <a:lnTo>
                    <a:pt x="0" y="594359"/>
                  </a:lnTo>
                  <a:lnTo>
                    <a:pt x="0" y="0"/>
                  </a:lnTo>
                  <a:lnTo>
                    <a:pt x="91439" y="0"/>
                  </a:lnTo>
                  <a:lnTo>
                    <a:pt x="91439" y="594359"/>
                  </a:lnTo>
                  <a:close/>
                </a:path>
              </a:pathLst>
            </a:custGeom>
            <a:solidFill>
              <a:srgbClr val="EF9A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303520" y="3712464"/>
              <a:ext cx="91440" cy="594360"/>
            </a:xfrm>
            <a:custGeom>
              <a:avLst/>
              <a:gdLst/>
              <a:ahLst/>
              <a:cxnLst/>
              <a:rect l="l" t="t" r="r" b="b"/>
              <a:pathLst>
                <a:path w="91439" h="594360">
                  <a:moveTo>
                    <a:pt x="0" y="0"/>
                  </a:moveTo>
                  <a:lnTo>
                    <a:pt x="91439" y="0"/>
                  </a:lnTo>
                  <a:lnTo>
                    <a:pt x="9143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F9A9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27520" y="1219201"/>
            <a:ext cx="4937760" cy="4358651"/>
          </a:xfrm>
          <a:prstGeom prst="rect">
            <a:avLst/>
          </a:prstGeom>
          <a:ln w="12700">
            <a:solidFill>
              <a:srgbClr val="1565C0"/>
            </a:solidFill>
          </a:ln>
        </p:spPr>
        <p:txBody>
          <a:bodyPr vert="horz" wrap="square" lIns="0" tIns="196427" rIns="0" bIns="0" rtlCol="0">
            <a:spAutoFit/>
          </a:bodyPr>
          <a:lstStyle/>
          <a:p>
            <a:pPr marL="3387" algn="ctr">
              <a:spcBef>
                <a:spcPts val="1547"/>
              </a:spcBef>
            </a:pPr>
            <a:r>
              <a:rPr sz="2000" b="1" spc="-13" dirty="0">
                <a:solidFill>
                  <a:srgbClr val="FFFFFF"/>
                </a:solidFill>
                <a:latin typeface="Calibri"/>
                <a:cs typeface="Calibri"/>
              </a:rPr>
              <a:t>Conséquences</a:t>
            </a:r>
            <a:endParaRPr sz="2000">
              <a:latin typeface="Calibri"/>
              <a:cs typeface="Calibri"/>
            </a:endParaRPr>
          </a:p>
          <a:p>
            <a:pPr>
              <a:spcBef>
                <a:spcPts val="1387"/>
              </a:spcBef>
            </a:pPr>
            <a:endParaRPr sz="2000">
              <a:latin typeface="Calibri"/>
              <a:cs typeface="Calibri"/>
            </a:endParaRPr>
          </a:p>
          <a:p>
            <a:pPr marL="608738"/>
            <a:r>
              <a:rPr sz="1733" b="1" spc="-13" dirty="0">
                <a:solidFill>
                  <a:srgbClr val="FFFFFF"/>
                </a:solidFill>
                <a:latin typeface="Calibri"/>
                <a:cs typeface="Calibri"/>
              </a:rPr>
              <a:t>Pollution</a:t>
            </a:r>
            <a:endParaRPr sz="1733">
              <a:latin typeface="Calibri"/>
              <a:cs typeface="Calibri"/>
            </a:endParaRPr>
          </a:p>
          <a:p>
            <a:pPr marL="608738">
              <a:spcBef>
                <a:spcPts val="447"/>
              </a:spcBef>
            </a:pPr>
            <a:r>
              <a:rPr sz="1467" dirty="0">
                <a:solidFill>
                  <a:srgbClr val="B0BEC5"/>
                </a:solidFill>
                <a:latin typeface="Calibri"/>
                <a:cs typeface="Calibri"/>
              </a:rPr>
              <a:t>Odeurs</a:t>
            </a:r>
            <a:r>
              <a:rPr sz="1467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B0BEC5"/>
                </a:solidFill>
                <a:latin typeface="Calibri"/>
                <a:cs typeface="Calibri"/>
              </a:rPr>
              <a:t>&amp;</a:t>
            </a:r>
            <a:r>
              <a:rPr sz="1467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467" spc="-13" dirty="0">
                <a:solidFill>
                  <a:srgbClr val="B0BEC5"/>
                </a:solidFill>
                <a:latin typeface="Calibri"/>
                <a:cs typeface="Calibri"/>
              </a:rPr>
              <a:t>maladies</a:t>
            </a:r>
            <a:endParaRPr sz="1467">
              <a:latin typeface="Calibri"/>
              <a:cs typeface="Calibri"/>
            </a:endParaRPr>
          </a:p>
          <a:p>
            <a:pPr>
              <a:spcBef>
                <a:spcPts val="1313"/>
              </a:spcBef>
            </a:pPr>
            <a:endParaRPr sz="1467">
              <a:latin typeface="Calibri"/>
              <a:cs typeface="Calibri"/>
            </a:endParaRPr>
          </a:p>
          <a:p>
            <a:pPr marL="608738"/>
            <a:r>
              <a:rPr sz="1733" b="1" spc="-13" dirty="0">
                <a:solidFill>
                  <a:srgbClr val="FFFFFF"/>
                </a:solidFill>
                <a:latin typeface="Calibri"/>
                <a:cs typeface="Calibri"/>
              </a:rPr>
              <a:t>Inefficacité</a:t>
            </a:r>
            <a:endParaRPr sz="1733">
              <a:latin typeface="Calibri"/>
              <a:cs typeface="Calibri"/>
            </a:endParaRPr>
          </a:p>
          <a:p>
            <a:pPr marL="608738">
              <a:spcBef>
                <a:spcPts val="453"/>
              </a:spcBef>
            </a:pPr>
            <a:r>
              <a:rPr sz="1467" dirty="0">
                <a:solidFill>
                  <a:srgbClr val="B0BEC5"/>
                </a:solidFill>
                <a:latin typeface="Calibri"/>
                <a:cs typeface="Calibri"/>
              </a:rPr>
              <a:t>Tournées</a:t>
            </a:r>
            <a:r>
              <a:rPr sz="1467" spc="-6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467" spc="-13" dirty="0">
                <a:solidFill>
                  <a:srgbClr val="B0BEC5"/>
                </a:solidFill>
                <a:latin typeface="Calibri"/>
                <a:cs typeface="Calibri"/>
              </a:rPr>
              <a:t>inutiles</a:t>
            </a:r>
            <a:endParaRPr sz="1467">
              <a:latin typeface="Calibri"/>
              <a:cs typeface="Calibri"/>
            </a:endParaRPr>
          </a:p>
          <a:p>
            <a:pPr>
              <a:spcBef>
                <a:spcPts val="1307"/>
              </a:spcBef>
            </a:pPr>
            <a:endParaRPr sz="1467">
              <a:latin typeface="Calibri"/>
              <a:cs typeface="Calibri"/>
            </a:endParaRPr>
          </a:p>
          <a:p>
            <a:pPr marL="608738">
              <a:spcBef>
                <a:spcPts val="7"/>
              </a:spcBef>
            </a:pPr>
            <a:r>
              <a:rPr sz="1733" b="1" dirty="0">
                <a:solidFill>
                  <a:srgbClr val="FFFFFF"/>
                </a:solidFill>
                <a:latin typeface="Calibri"/>
                <a:cs typeface="Calibri"/>
              </a:rPr>
              <a:t>Coûts</a:t>
            </a:r>
            <a:r>
              <a:rPr sz="1733" b="1" spc="-13" dirty="0">
                <a:solidFill>
                  <a:srgbClr val="FFFFFF"/>
                </a:solidFill>
                <a:latin typeface="Calibri"/>
                <a:cs typeface="Calibri"/>
              </a:rPr>
              <a:t> élevés</a:t>
            </a:r>
            <a:endParaRPr sz="1733">
              <a:latin typeface="Calibri"/>
              <a:cs typeface="Calibri"/>
            </a:endParaRPr>
          </a:p>
          <a:p>
            <a:pPr marL="608738">
              <a:spcBef>
                <a:spcPts val="447"/>
              </a:spcBef>
            </a:pPr>
            <a:r>
              <a:rPr sz="1467" dirty="0">
                <a:solidFill>
                  <a:srgbClr val="B0BEC5"/>
                </a:solidFill>
                <a:latin typeface="Calibri"/>
                <a:cs typeface="Calibri"/>
              </a:rPr>
              <a:t>Budget </a:t>
            </a:r>
            <a:r>
              <a:rPr sz="1467" spc="-13" dirty="0">
                <a:solidFill>
                  <a:srgbClr val="B0BEC5"/>
                </a:solidFill>
                <a:latin typeface="Calibri"/>
                <a:cs typeface="Calibri"/>
              </a:rPr>
              <a:t>municipal</a:t>
            </a:r>
            <a:endParaRPr sz="1467">
              <a:latin typeface="Calibri"/>
              <a:cs typeface="Calibri"/>
            </a:endParaRPr>
          </a:p>
          <a:p>
            <a:pPr>
              <a:spcBef>
                <a:spcPts val="1313"/>
              </a:spcBef>
            </a:pPr>
            <a:endParaRPr sz="1467">
              <a:latin typeface="Calibri"/>
              <a:cs typeface="Calibri"/>
            </a:endParaRPr>
          </a:p>
          <a:p>
            <a:pPr marL="608738"/>
            <a:r>
              <a:rPr sz="1733" b="1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33" b="1" spc="-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33" b="1" spc="-13" dirty="0">
                <a:solidFill>
                  <a:srgbClr val="FFFFFF"/>
                </a:solidFill>
                <a:latin typeface="Calibri"/>
                <a:cs typeface="Calibri"/>
              </a:rPr>
              <a:t>dégradée</a:t>
            </a:r>
            <a:endParaRPr sz="1733">
              <a:latin typeface="Calibri"/>
              <a:cs typeface="Calibri"/>
            </a:endParaRPr>
          </a:p>
          <a:p>
            <a:pPr marL="608738">
              <a:spcBef>
                <a:spcPts val="447"/>
              </a:spcBef>
            </a:pPr>
            <a:r>
              <a:rPr sz="1467" dirty="0">
                <a:solidFill>
                  <a:srgbClr val="B0BEC5"/>
                </a:solidFill>
                <a:latin typeface="Calibri"/>
                <a:cs typeface="Calibri"/>
              </a:rPr>
              <a:t>Qualité de </a:t>
            </a:r>
            <a:r>
              <a:rPr sz="1467" spc="-33" dirty="0">
                <a:solidFill>
                  <a:srgbClr val="B0BEC5"/>
                </a:solidFill>
                <a:latin typeface="Calibri"/>
                <a:cs typeface="Calibri"/>
              </a:rPr>
              <a:t>vie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BC2D1AA1-A2CB-19E3-7390-AD4A0A19869E}"/>
              </a:ext>
            </a:extLst>
          </p:cNvPr>
          <p:cNvSpPr/>
          <p:nvPr/>
        </p:nvSpPr>
        <p:spPr>
          <a:xfrm>
            <a:off x="11490226" y="6515944"/>
            <a:ext cx="554454" cy="23029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023438"/>
            <a:ext cx="14020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OBJECTIFS</a:t>
            </a:r>
            <a:r>
              <a:rPr spc="-60" dirty="0"/>
              <a:t> </a:t>
            </a:r>
            <a:r>
              <a:rPr dirty="0"/>
              <a:t>DU</a:t>
            </a:r>
            <a:r>
              <a:rPr spc="-53" dirty="0"/>
              <a:t> </a:t>
            </a:r>
            <a:r>
              <a:rPr spc="-13" dirty="0"/>
              <a:t>PROJET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03200" y="999067"/>
            <a:ext cx="11700933" cy="1320800"/>
            <a:chOff x="152400" y="749300"/>
            <a:chExt cx="8775700" cy="990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749300"/>
              <a:ext cx="8775700" cy="990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1480" y="868680"/>
              <a:ext cx="8412480" cy="713740"/>
            </a:xfrm>
            <a:custGeom>
              <a:avLst/>
              <a:gdLst/>
              <a:ahLst/>
              <a:cxnLst/>
              <a:rect l="l" t="t" r="r" b="b"/>
              <a:pathLst>
                <a:path w="8412480" h="713740">
                  <a:moveTo>
                    <a:pt x="0" y="713231"/>
                  </a:moveTo>
                  <a:lnTo>
                    <a:pt x="8412479" y="713231"/>
                  </a:lnTo>
                  <a:lnTo>
                    <a:pt x="8412479" y="0"/>
                  </a:lnTo>
                  <a:lnTo>
                    <a:pt x="0" y="0"/>
                  </a:lnTo>
                  <a:lnTo>
                    <a:pt x="0" y="713231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68680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40">
                  <a:moveTo>
                    <a:pt x="0" y="0"/>
                  </a:moveTo>
                  <a:lnTo>
                    <a:pt x="8503919" y="0"/>
                  </a:lnTo>
                  <a:lnTo>
                    <a:pt x="8503919" y="713231"/>
                  </a:lnTo>
                  <a:lnTo>
                    <a:pt x="0" y="7132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868680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40">
                  <a:moveTo>
                    <a:pt x="91440" y="713231"/>
                  </a:moveTo>
                  <a:lnTo>
                    <a:pt x="0" y="713231"/>
                  </a:lnTo>
                  <a:lnTo>
                    <a:pt x="0" y="0"/>
                  </a:lnTo>
                  <a:lnTo>
                    <a:pt x="91440" y="0"/>
                  </a:lnTo>
                  <a:lnTo>
                    <a:pt x="91440" y="713231"/>
                  </a:lnTo>
                  <a:close/>
                </a:path>
              </a:pathLst>
            </a:custGeom>
            <a:solidFill>
              <a:srgbClr val="00ACC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868680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40">
                  <a:moveTo>
                    <a:pt x="0" y="0"/>
                  </a:moveTo>
                  <a:lnTo>
                    <a:pt x="91440" y="0"/>
                  </a:lnTo>
                  <a:lnTo>
                    <a:pt x="91440" y="713231"/>
                  </a:lnTo>
                  <a:lnTo>
                    <a:pt x="0" y="7132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40" y="96012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6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6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5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5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1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00ACC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49275" y="960437"/>
              <a:ext cx="530225" cy="530225"/>
            </a:xfrm>
            <a:custGeom>
              <a:avLst/>
              <a:gdLst/>
              <a:ahLst/>
              <a:cxnLst/>
              <a:rect l="l" t="t" r="r" b="b"/>
              <a:pathLst>
                <a:path w="53022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6681" y="45243"/>
                  </a:lnTo>
                  <a:lnTo>
                    <a:pt x="161925" y="20637"/>
                  </a:lnTo>
                  <a:lnTo>
                    <a:pt x="211931" y="5556"/>
                  </a:lnTo>
                  <a:lnTo>
                    <a:pt x="265112" y="0"/>
                  </a:lnTo>
                  <a:lnTo>
                    <a:pt x="318293" y="5556"/>
                  </a:lnTo>
                  <a:lnTo>
                    <a:pt x="368300" y="20637"/>
                  </a:lnTo>
                  <a:lnTo>
                    <a:pt x="413543" y="45243"/>
                  </a:lnTo>
                  <a:lnTo>
                    <a:pt x="452437" y="77787"/>
                  </a:lnTo>
                  <a:lnTo>
                    <a:pt x="484981" y="116681"/>
                  </a:lnTo>
                  <a:lnTo>
                    <a:pt x="509587" y="161925"/>
                  </a:lnTo>
                  <a:lnTo>
                    <a:pt x="524668" y="211931"/>
                  </a:lnTo>
                  <a:lnTo>
                    <a:pt x="530225" y="265112"/>
                  </a:lnTo>
                  <a:lnTo>
                    <a:pt x="524668" y="318293"/>
                  </a:lnTo>
                  <a:lnTo>
                    <a:pt x="509587" y="368300"/>
                  </a:lnTo>
                  <a:lnTo>
                    <a:pt x="484981" y="413543"/>
                  </a:lnTo>
                  <a:lnTo>
                    <a:pt x="452437" y="452437"/>
                  </a:lnTo>
                  <a:lnTo>
                    <a:pt x="413543" y="484981"/>
                  </a:lnTo>
                  <a:lnTo>
                    <a:pt x="368300" y="509587"/>
                  </a:lnTo>
                  <a:lnTo>
                    <a:pt x="318293" y="524668"/>
                  </a:lnTo>
                  <a:lnTo>
                    <a:pt x="265112" y="530225"/>
                  </a:lnTo>
                  <a:lnTo>
                    <a:pt x="211931" y="524668"/>
                  </a:lnTo>
                  <a:lnTo>
                    <a:pt x="161925" y="509587"/>
                  </a:lnTo>
                  <a:lnTo>
                    <a:pt x="116681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4437" y="1459382"/>
            <a:ext cx="2573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867" b="1" spc="-33" dirty="0">
                <a:solidFill>
                  <a:srgbClr val="0A1628"/>
                </a:solidFill>
                <a:latin typeface="Calibri"/>
                <a:cs typeface="Calibri"/>
              </a:rPr>
              <a:t>01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7840" y="1143249"/>
            <a:ext cx="5122333" cy="775491"/>
          </a:xfrm>
          <a:prstGeom prst="rect">
            <a:avLst/>
          </a:prstGeom>
        </p:spPr>
        <p:txBody>
          <a:bodyPr vert="horz" wrap="square" lIns="0" tIns="138007" rIns="0" bIns="0" rtlCol="0">
            <a:spAutoFit/>
          </a:bodyPr>
          <a:lstStyle/>
          <a:p>
            <a:pPr>
              <a:spcBef>
                <a:spcPts val="1087"/>
              </a:spcBef>
            </a:pPr>
            <a:r>
              <a:rPr sz="1867" b="1" spc="-13" dirty="0">
                <a:solidFill>
                  <a:srgbClr val="00ACC1"/>
                </a:solidFill>
                <a:latin typeface="Calibri"/>
                <a:cs typeface="Calibri"/>
              </a:rPr>
              <a:t>Mesure</a:t>
            </a:r>
            <a:r>
              <a:rPr sz="1867" b="1" spc="-33" dirty="0">
                <a:solidFill>
                  <a:srgbClr val="00ACC1"/>
                </a:solidFill>
                <a:latin typeface="Calibri"/>
                <a:cs typeface="Calibri"/>
              </a:rPr>
              <a:t> </a:t>
            </a:r>
            <a:r>
              <a:rPr sz="1867" b="1" dirty="0">
                <a:solidFill>
                  <a:srgbClr val="00ACC1"/>
                </a:solidFill>
                <a:latin typeface="Calibri"/>
                <a:cs typeface="Calibri"/>
              </a:rPr>
              <a:t>en</a:t>
            </a:r>
            <a:r>
              <a:rPr sz="1867" b="1" spc="-27" dirty="0">
                <a:solidFill>
                  <a:srgbClr val="00ACC1"/>
                </a:solidFill>
                <a:latin typeface="Calibri"/>
                <a:cs typeface="Calibri"/>
              </a:rPr>
              <a:t> Temps Réel</a:t>
            </a:r>
            <a:endParaRPr sz="1867">
              <a:latin typeface="Calibri"/>
              <a:cs typeface="Calibri"/>
            </a:endParaRPr>
          </a:p>
          <a:p>
            <a:pPr>
              <a:spcBef>
                <a:spcPts val="813"/>
              </a:spcBef>
            </a:pP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Niveau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remplissage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des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poubelles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mesuré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continuellement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3200" y="1272116"/>
            <a:ext cx="11700933" cy="2114973"/>
            <a:chOff x="152400" y="954087"/>
            <a:chExt cx="8775700" cy="1586230"/>
          </a:xfrm>
        </p:grpSpPr>
        <p:sp>
          <p:nvSpPr>
            <p:cNvPr id="18" name="object 18"/>
            <p:cNvSpPr/>
            <p:nvPr/>
          </p:nvSpPr>
          <p:spPr>
            <a:xfrm>
              <a:off x="7543800" y="96012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5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5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6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5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1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00ACC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543800" y="960437"/>
              <a:ext cx="531495" cy="530225"/>
            </a:xfrm>
            <a:custGeom>
              <a:avLst/>
              <a:gdLst/>
              <a:ahLst/>
              <a:cxnLst/>
              <a:rect l="l" t="t" r="r" b="b"/>
              <a:pathLst>
                <a:path w="53149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7475" y="45243"/>
                  </a:lnTo>
                  <a:lnTo>
                    <a:pt x="162718" y="20637"/>
                  </a:lnTo>
                  <a:lnTo>
                    <a:pt x="211931" y="5556"/>
                  </a:lnTo>
                  <a:lnTo>
                    <a:pt x="265906" y="0"/>
                  </a:lnTo>
                  <a:lnTo>
                    <a:pt x="319087" y="5556"/>
                  </a:lnTo>
                  <a:lnTo>
                    <a:pt x="369093" y="20637"/>
                  </a:lnTo>
                  <a:lnTo>
                    <a:pt x="414337" y="45243"/>
                  </a:lnTo>
                  <a:lnTo>
                    <a:pt x="453231" y="77787"/>
                  </a:lnTo>
                  <a:lnTo>
                    <a:pt x="485775" y="116681"/>
                  </a:lnTo>
                  <a:lnTo>
                    <a:pt x="510381" y="161925"/>
                  </a:lnTo>
                  <a:lnTo>
                    <a:pt x="525462" y="211931"/>
                  </a:lnTo>
                  <a:lnTo>
                    <a:pt x="531018" y="265112"/>
                  </a:lnTo>
                  <a:lnTo>
                    <a:pt x="525462" y="318293"/>
                  </a:lnTo>
                  <a:lnTo>
                    <a:pt x="510381" y="368300"/>
                  </a:lnTo>
                  <a:lnTo>
                    <a:pt x="485775" y="413543"/>
                  </a:lnTo>
                  <a:lnTo>
                    <a:pt x="453231" y="452437"/>
                  </a:lnTo>
                  <a:lnTo>
                    <a:pt x="414337" y="484981"/>
                  </a:lnTo>
                  <a:lnTo>
                    <a:pt x="369093" y="509587"/>
                  </a:lnTo>
                  <a:lnTo>
                    <a:pt x="319087" y="524668"/>
                  </a:lnTo>
                  <a:lnTo>
                    <a:pt x="265906" y="530225"/>
                  </a:lnTo>
                  <a:lnTo>
                    <a:pt x="211931" y="524668"/>
                  </a:lnTo>
                  <a:lnTo>
                    <a:pt x="162718" y="509587"/>
                  </a:lnTo>
                  <a:lnTo>
                    <a:pt x="117475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00AC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549400"/>
              <a:ext cx="8775700" cy="990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1480" y="1673351"/>
              <a:ext cx="8412480" cy="713740"/>
            </a:xfrm>
            <a:custGeom>
              <a:avLst/>
              <a:gdLst/>
              <a:ahLst/>
              <a:cxnLst/>
              <a:rect l="l" t="t" r="r" b="b"/>
              <a:pathLst>
                <a:path w="8412480" h="713739">
                  <a:moveTo>
                    <a:pt x="0" y="713231"/>
                  </a:moveTo>
                  <a:lnTo>
                    <a:pt x="8412479" y="713231"/>
                  </a:lnTo>
                  <a:lnTo>
                    <a:pt x="8412479" y="0"/>
                  </a:lnTo>
                  <a:lnTo>
                    <a:pt x="0" y="0"/>
                  </a:lnTo>
                  <a:lnTo>
                    <a:pt x="0" y="713231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040" y="1673351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0"/>
                  </a:moveTo>
                  <a:lnTo>
                    <a:pt x="8503919" y="0"/>
                  </a:lnTo>
                  <a:lnTo>
                    <a:pt x="8503919" y="713231"/>
                  </a:lnTo>
                  <a:lnTo>
                    <a:pt x="0" y="7132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E88E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40" y="1673351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91440" y="713231"/>
                  </a:moveTo>
                  <a:lnTo>
                    <a:pt x="0" y="713231"/>
                  </a:lnTo>
                  <a:lnTo>
                    <a:pt x="0" y="0"/>
                  </a:lnTo>
                  <a:lnTo>
                    <a:pt x="91440" y="0"/>
                  </a:lnTo>
                  <a:lnTo>
                    <a:pt x="91440" y="713231"/>
                  </a:lnTo>
                  <a:close/>
                </a:path>
              </a:pathLst>
            </a:custGeom>
            <a:solidFill>
              <a:srgbClr val="1E88E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40" y="1673351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0" y="0"/>
                  </a:moveTo>
                  <a:lnTo>
                    <a:pt x="91440" y="0"/>
                  </a:lnTo>
                  <a:lnTo>
                    <a:pt x="91440" y="713231"/>
                  </a:lnTo>
                  <a:lnTo>
                    <a:pt x="0" y="7132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E88E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640" y="1764792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6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6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5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1" y="265175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6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2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1E88E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49275" y="1765300"/>
              <a:ext cx="530225" cy="530225"/>
            </a:xfrm>
            <a:custGeom>
              <a:avLst/>
              <a:gdLst/>
              <a:ahLst/>
              <a:cxnLst/>
              <a:rect l="l" t="t" r="r" b="b"/>
              <a:pathLst>
                <a:path w="53022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6681" y="45243"/>
                  </a:lnTo>
                  <a:lnTo>
                    <a:pt x="161925" y="20637"/>
                  </a:lnTo>
                  <a:lnTo>
                    <a:pt x="211931" y="5556"/>
                  </a:lnTo>
                  <a:lnTo>
                    <a:pt x="265112" y="0"/>
                  </a:lnTo>
                  <a:lnTo>
                    <a:pt x="318293" y="5556"/>
                  </a:lnTo>
                  <a:lnTo>
                    <a:pt x="368300" y="20637"/>
                  </a:lnTo>
                  <a:lnTo>
                    <a:pt x="413543" y="45243"/>
                  </a:lnTo>
                  <a:lnTo>
                    <a:pt x="452437" y="77787"/>
                  </a:lnTo>
                  <a:lnTo>
                    <a:pt x="484981" y="116681"/>
                  </a:lnTo>
                  <a:lnTo>
                    <a:pt x="509587" y="161925"/>
                  </a:lnTo>
                  <a:lnTo>
                    <a:pt x="524668" y="211931"/>
                  </a:lnTo>
                  <a:lnTo>
                    <a:pt x="530225" y="265112"/>
                  </a:lnTo>
                  <a:lnTo>
                    <a:pt x="524668" y="318293"/>
                  </a:lnTo>
                  <a:lnTo>
                    <a:pt x="509587" y="368300"/>
                  </a:lnTo>
                  <a:lnTo>
                    <a:pt x="484981" y="413543"/>
                  </a:lnTo>
                  <a:lnTo>
                    <a:pt x="452437" y="452437"/>
                  </a:lnTo>
                  <a:lnTo>
                    <a:pt x="413543" y="484981"/>
                  </a:lnTo>
                  <a:lnTo>
                    <a:pt x="368300" y="509587"/>
                  </a:lnTo>
                  <a:lnTo>
                    <a:pt x="318293" y="524668"/>
                  </a:lnTo>
                  <a:lnTo>
                    <a:pt x="265112" y="530225"/>
                  </a:lnTo>
                  <a:lnTo>
                    <a:pt x="211931" y="524668"/>
                  </a:lnTo>
                  <a:lnTo>
                    <a:pt x="161925" y="509587"/>
                  </a:lnTo>
                  <a:lnTo>
                    <a:pt x="116681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1E88E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64437" y="2532279"/>
            <a:ext cx="2573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867" b="1" spc="-33" dirty="0">
                <a:solidFill>
                  <a:srgbClr val="0A1628"/>
                </a:solidFill>
                <a:latin typeface="Calibri"/>
                <a:cs typeface="Calibri"/>
              </a:rPr>
              <a:t>02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7841" y="2216145"/>
            <a:ext cx="4691380" cy="775491"/>
          </a:xfrm>
          <a:prstGeom prst="rect">
            <a:avLst/>
          </a:prstGeom>
        </p:spPr>
        <p:txBody>
          <a:bodyPr vert="horz" wrap="square" lIns="0" tIns="138007" rIns="0" bIns="0" rtlCol="0">
            <a:spAutoFit/>
          </a:bodyPr>
          <a:lstStyle/>
          <a:p>
            <a:pPr>
              <a:spcBef>
                <a:spcPts val="1087"/>
              </a:spcBef>
            </a:pPr>
            <a:r>
              <a:rPr sz="1867" b="1" spc="-13" dirty="0">
                <a:solidFill>
                  <a:srgbClr val="1E88E5"/>
                </a:solidFill>
                <a:latin typeface="Calibri"/>
                <a:cs typeface="Calibri"/>
              </a:rPr>
              <a:t>Transmission</a:t>
            </a:r>
            <a:r>
              <a:rPr sz="1867" b="1" spc="-60" dirty="0">
                <a:solidFill>
                  <a:srgbClr val="1E88E5"/>
                </a:solidFill>
                <a:latin typeface="Calibri"/>
                <a:cs typeface="Calibri"/>
              </a:rPr>
              <a:t> </a:t>
            </a:r>
            <a:r>
              <a:rPr sz="1867" b="1" dirty="0">
                <a:solidFill>
                  <a:srgbClr val="1E88E5"/>
                </a:solidFill>
                <a:latin typeface="Calibri"/>
                <a:cs typeface="Calibri"/>
              </a:rPr>
              <a:t>Longue</a:t>
            </a:r>
            <a:r>
              <a:rPr sz="1867" b="1" spc="-60" dirty="0">
                <a:solidFill>
                  <a:srgbClr val="1E88E5"/>
                </a:solidFill>
                <a:latin typeface="Calibri"/>
                <a:cs typeface="Calibri"/>
              </a:rPr>
              <a:t> </a:t>
            </a:r>
            <a:r>
              <a:rPr sz="1867" b="1" spc="-13" dirty="0">
                <a:solidFill>
                  <a:srgbClr val="1E88E5"/>
                </a:solidFill>
                <a:latin typeface="Calibri"/>
                <a:cs typeface="Calibri"/>
              </a:rPr>
              <a:t>Distance</a:t>
            </a:r>
            <a:endParaRPr sz="1867">
              <a:latin typeface="Calibri"/>
              <a:cs typeface="Calibri"/>
            </a:endParaRPr>
          </a:p>
          <a:p>
            <a:pPr>
              <a:spcBef>
                <a:spcPts val="813"/>
              </a:spcBef>
            </a:pP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Envoi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des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données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via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réseau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LoRaWAN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sur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plusieurs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km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3200" y="2345267"/>
            <a:ext cx="11700933" cy="2125133"/>
            <a:chOff x="152400" y="1758950"/>
            <a:chExt cx="8775700" cy="1593850"/>
          </a:xfrm>
        </p:grpSpPr>
        <p:sp>
          <p:nvSpPr>
            <p:cNvPr id="30" name="object 30"/>
            <p:cNvSpPr/>
            <p:nvPr/>
          </p:nvSpPr>
          <p:spPr>
            <a:xfrm>
              <a:off x="7543800" y="1764792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5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5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6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5"/>
                  </a:lnTo>
                  <a:lnTo>
                    <a:pt x="526079" y="312841"/>
                  </a:lnTo>
                  <a:lnTo>
                    <a:pt x="513762" y="357704"/>
                  </a:lnTo>
                  <a:lnTo>
                    <a:pt x="494147" y="399015"/>
                  </a:lnTo>
                  <a:lnTo>
                    <a:pt x="467986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2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1E88E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43800" y="1765300"/>
              <a:ext cx="531495" cy="530225"/>
            </a:xfrm>
            <a:custGeom>
              <a:avLst/>
              <a:gdLst/>
              <a:ahLst/>
              <a:cxnLst/>
              <a:rect l="l" t="t" r="r" b="b"/>
              <a:pathLst>
                <a:path w="53149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7475" y="45243"/>
                  </a:lnTo>
                  <a:lnTo>
                    <a:pt x="162718" y="20637"/>
                  </a:lnTo>
                  <a:lnTo>
                    <a:pt x="211931" y="5556"/>
                  </a:lnTo>
                  <a:lnTo>
                    <a:pt x="265906" y="0"/>
                  </a:lnTo>
                  <a:lnTo>
                    <a:pt x="319087" y="5556"/>
                  </a:lnTo>
                  <a:lnTo>
                    <a:pt x="369093" y="20637"/>
                  </a:lnTo>
                  <a:lnTo>
                    <a:pt x="414337" y="45243"/>
                  </a:lnTo>
                  <a:lnTo>
                    <a:pt x="453231" y="77787"/>
                  </a:lnTo>
                  <a:lnTo>
                    <a:pt x="485775" y="116681"/>
                  </a:lnTo>
                  <a:lnTo>
                    <a:pt x="510381" y="161925"/>
                  </a:lnTo>
                  <a:lnTo>
                    <a:pt x="525462" y="211931"/>
                  </a:lnTo>
                  <a:lnTo>
                    <a:pt x="531018" y="265112"/>
                  </a:lnTo>
                  <a:lnTo>
                    <a:pt x="525462" y="318293"/>
                  </a:lnTo>
                  <a:lnTo>
                    <a:pt x="510381" y="368300"/>
                  </a:lnTo>
                  <a:lnTo>
                    <a:pt x="485775" y="413543"/>
                  </a:lnTo>
                  <a:lnTo>
                    <a:pt x="453231" y="452437"/>
                  </a:lnTo>
                  <a:lnTo>
                    <a:pt x="414337" y="484981"/>
                  </a:lnTo>
                  <a:lnTo>
                    <a:pt x="369093" y="509587"/>
                  </a:lnTo>
                  <a:lnTo>
                    <a:pt x="319087" y="524668"/>
                  </a:lnTo>
                  <a:lnTo>
                    <a:pt x="265906" y="530225"/>
                  </a:lnTo>
                  <a:lnTo>
                    <a:pt x="211931" y="524668"/>
                  </a:lnTo>
                  <a:lnTo>
                    <a:pt x="162718" y="509587"/>
                  </a:lnTo>
                  <a:lnTo>
                    <a:pt x="117475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1E88E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2362200"/>
              <a:ext cx="8775700" cy="9906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1480" y="2478023"/>
              <a:ext cx="8412480" cy="713740"/>
            </a:xfrm>
            <a:custGeom>
              <a:avLst/>
              <a:gdLst/>
              <a:ahLst/>
              <a:cxnLst/>
              <a:rect l="l" t="t" r="r" b="b"/>
              <a:pathLst>
                <a:path w="8412480" h="713739">
                  <a:moveTo>
                    <a:pt x="0" y="713232"/>
                  </a:moveTo>
                  <a:lnTo>
                    <a:pt x="8412479" y="713232"/>
                  </a:lnTo>
                  <a:lnTo>
                    <a:pt x="8412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40" y="2478023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0"/>
                  </a:moveTo>
                  <a:lnTo>
                    <a:pt x="8503919" y="0"/>
                  </a:lnTo>
                  <a:lnTo>
                    <a:pt x="8503919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3A04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20040" y="2478023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91440" y="713232"/>
                  </a:moveTo>
                  <a:lnTo>
                    <a:pt x="0" y="713232"/>
                  </a:lnTo>
                  <a:lnTo>
                    <a:pt x="0" y="0"/>
                  </a:lnTo>
                  <a:lnTo>
                    <a:pt x="91440" y="0"/>
                  </a:lnTo>
                  <a:lnTo>
                    <a:pt x="91440" y="713232"/>
                  </a:lnTo>
                  <a:close/>
                </a:path>
              </a:pathLst>
            </a:custGeom>
            <a:solidFill>
              <a:srgbClr val="43A04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20040" y="2478023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0" y="0"/>
                  </a:moveTo>
                  <a:lnTo>
                    <a:pt x="91440" y="0"/>
                  </a:lnTo>
                  <a:lnTo>
                    <a:pt x="914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3A04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48640" y="2569463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6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6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5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1" y="265175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6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2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43A04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49275" y="2570162"/>
              <a:ext cx="530225" cy="530225"/>
            </a:xfrm>
            <a:custGeom>
              <a:avLst/>
              <a:gdLst/>
              <a:ahLst/>
              <a:cxnLst/>
              <a:rect l="l" t="t" r="r" b="b"/>
              <a:pathLst>
                <a:path w="53022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6681" y="45243"/>
                  </a:lnTo>
                  <a:lnTo>
                    <a:pt x="161925" y="20637"/>
                  </a:lnTo>
                  <a:lnTo>
                    <a:pt x="211931" y="5556"/>
                  </a:lnTo>
                  <a:lnTo>
                    <a:pt x="265112" y="0"/>
                  </a:lnTo>
                  <a:lnTo>
                    <a:pt x="318293" y="5556"/>
                  </a:lnTo>
                  <a:lnTo>
                    <a:pt x="368300" y="20637"/>
                  </a:lnTo>
                  <a:lnTo>
                    <a:pt x="413543" y="45243"/>
                  </a:lnTo>
                  <a:lnTo>
                    <a:pt x="452437" y="77787"/>
                  </a:lnTo>
                  <a:lnTo>
                    <a:pt x="484981" y="116681"/>
                  </a:lnTo>
                  <a:lnTo>
                    <a:pt x="509587" y="161925"/>
                  </a:lnTo>
                  <a:lnTo>
                    <a:pt x="524668" y="211931"/>
                  </a:lnTo>
                  <a:lnTo>
                    <a:pt x="530225" y="265112"/>
                  </a:lnTo>
                  <a:lnTo>
                    <a:pt x="524668" y="318293"/>
                  </a:lnTo>
                  <a:lnTo>
                    <a:pt x="509587" y="368300"/>
                  </a:lnTo>
                  <a:lnTo>
                    <a:pt x="484981" y="413543"/>
                  </a:lnTo>
                  <a:lnTo>
                    <a:pt x="452437" y="452437"/>
                  </a:lnTo>
                  <a:lnTo>
                    <a:pt x="413543" y="484981"/>
                  </a:lnTo>
                  <a:lnTo>
                    <a:pt x="368300" y="509587"/>
                  </a:lnTo>
                  <a:lnTo>
                    <a:pt x="318293" y="524668"/>
                  </a:lnTo>
                  <a:lnTo>
                    <a:pt x="265112" y="530225"/>
                  </a:lnTo>
                  <a:lnTo>
                    <a:pt x="211931" y="524668"/>
                  </a:lnTo>
                  <a:lnTo>
                    <a:pt x="161925" y="509587"/>
                  </a:lnTo>
                  <a:lnTo>
                    <a:pt x="116681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43A04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64437" y="3605174"/>
            <a:ext cx="2573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867" b="1" spc="-33" dirty="0">
                <a:solidFill>
                  <a:srgbClr val="0A1628"/>
                </a:solidFill>
                <a:latin typeface="Calibri"/>
                <a:cs typeface="Calibri"/>
              </a:rPr>
              <a:t>03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67840" y="3289041"/>
            <a:ext cx="4348480" cy="775491"/>
          </a:xfrm>
          <a:prstGeom prst="rect">
            <a:avLst/>
          </a:prstGeom>
        </p:spPr>
        <p:txBody>
          <a:bodyPr vert="horz" wrap="square" lIns="0" tIns="138007" rIns="0" bIns="0" rtlCol="0">
            <a:spAutoFit/>
          </a:bodyPr>
          <a:lstStyle/>
          <a:p>
            <a:pPr>
              <a:spcBef>
                <a:spcPts val="1087"/>
              </a:spcBef>
            </a:pPr>
            <a:r>
              <a:rPr sz="1867" b="1" spc="-13" dirty="0">
                <a:solidFill>
                  <a:srgbClr val="43A047"/>
                </a:solidFill>
                <a:latin typeface="Calibri"/>
                <a:cs typeface="Calibri"/>
              </a:rPr>
              <a:t>Centralisation</a:t>
            </a:r>
            <a:r>
              <a:rPr sz="1867" b="1" spc="7" dirty="0">
                <a:solidFill>
                  <a:srgbClr val="43A047"/>
                </a:solidFill>
                <a:latin typeface="Calibri"/>
                <a:cs typeface="Calibri"/>
              </a:rPr>
              <a:t> </a:t>
            </a:r>
            <a:r>
              <a:rPr sz="1867" b="1" dirty="0">
                <a:solidFill>
                  <a:srgbClr val="43A047"/>
                </a:solidFill>
                <a:latin typeface="Calibri"/>
                <a:cs typeface="Calibri"/>
              </a:rPr>
              <a:t>des</a:t>
            </a:r>
            <a:r>
              <a:rPr sz="1867" b="1" spc="7" dirty="0">
                <a:solidFill>
                  <a:srgbClr val="43A047"/>
                </a:solidFill>
                <a:latin typeface="Calibri"/>
                <a:cs typeface="Calibri"/>
              </a:rPr>
              <a:t> </a:t>
            </a:r>
            <a:r>
              <a:rPr sz="1867" b="1" spc="-13" dirty="0">
                <a:solidFill>
                  <a:srgbClr val="43A047"/>
                </a:solidFill>
                <a:latin typeface="Calibri"/>
                <a:cs typeface="Calibri"/>
              </a:rPr>
              <a:t>Données</a:t>
            </a:r>
            <a:endParaRPr sz="1867">
              <a:latin typeface="Calibri"/>
              <a:cs typeface="Calibri"/>
            </a:endParaRPr>
          </a:p>
          <a:p>
            <a:pPr>
              <a:spcBef>
                <a:spcPts val="813"/>
              </a:spcBef>
            </a:pP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Stockage</a:t>
            </a:r>
            <a:r>
              <a:rPr sz="1600" spc="-4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cloud</a:t>
            </a:r>
            <a:r>
              <a:rPr sz="1600" spc="-4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sécurisé</a:t>
            </a:r>
            <a:r>
              <a:rPr sz="1600" spc="-4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et</a:t>
            </a:r>
            <a:r>
              <a:rPr sz="1600" spc="-4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accessible</a:t>
            </a:r>
            <a:r>
              <a:rPr sz="1600" spc="-4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à</a:t>
            </a:r>
            <a:r>
              <a:rPr sz="1600" spc="-4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tout</a:t>
            </a:r>
            <a:r>
              <a:rPr sz="1600" spc="-4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moment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3200" y="3418417"/>
            <a:ext cx="11700933" cy="2119207"/>
            <a:chOff x="152400" y="2563812"/>
            <a:chExt cx="8775700" cy="1589405"/>
          </a:xfrm>
        </p:grpSpPr>
        <p:sp>
          <p:nvSpPr>
            <p:cNvPr id="42" name="object 42"/>
            <p:cNvSpPr/>
            <p:nvPr/>
          </p:nvSpPr>
          <p:spPr>
            <a:xfrm>
              <a:off x="7543800" y="2569463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5176" y="530351"/>
                  </a:moveTo>
                  <a:lnTo>
                    <a:pt x="217510" y="526079"/>
                  </a:lnTo>
                  <a:lnTo>
                    <a:pt x="172647" y="513761"/>
                  </a:lnTo>
                  <a:lnTo>
                    <a:pt x="131336" y="494147"/>
                  </a:lnTo>
                  <a:lnTo>
                    <a:pt x="94326" y="467985"/>
                  </a:lnTo>
                  <a:lnTo>
                    <a:pt x="62365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5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5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6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5"/>
                  </a:lnTo>
                  <a:lnTo>
                    <a:pt x="526079" y="312841"/>
                  </a:lnTo>
                  <a:lnTo>
                    <a:pt x="513762" y="357704"/>
                  </a:lnTo>
                  <a:lnTo>
                    <a:pt x="494147" y="399015"/>
                  </a:lnTo>
                  <a:lnTo>
                    <a:pt x="467986" y="436025"/>
                  </a:lnTo>
                  <a:lnTo>
                    <a:pt x="436025" y="467985"/>
                  </a:lnTo>
                  <a:lnTo>
                    <a:pt x="399015" y="494147"/>
                  </a:lnTo>
                  <a:lnTo>
                    <a:pt x="357704" y="513761"/>
                  </a:lnTo>
                  <a:lnTo>
                    <a:pt x="312842" y="526079"/>
                  </a:lnTo>
                  <a:lnTo>
                    <a:pt x="265176" y="530351"/>
                  </a:lnTo>
                  <a:close/>
                </a:path>
              </a:pathLst>
            </a:custGeom>
            <a:solidFill>
              <a:srgbClr val="43A04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7543800" y="2570162"/>
              <a:ext cx="531495" cy="530225"/>
            </a:xfrm>
            <a:custGeom>
              <a:avLst/>
              <a:gdLst/>
              <a:ahLst/>
              <a:cxnLst/>
              <a:rect l="l" t="t" r="r" b="b"/>
              <a:pathLst>
                <a:path w="53149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7475" y="45243"/>
                  </a:lnTo>
                  <a:lnTo>
                    <a:pt x="162718" y="20637"/>
                  </a:lnTo>
                  <a:lnTo>
                    <a:pt x="211931" y="5556"/>
                  </a:lnTo>
                  <a:lnTo>
                    <a:pt x="265906" y="0"/>
                  </a:lnTo>
                  <a:lnTo>
                    <a:pt x="319087" y="5556"/>
                  </a:lnTo>
                  <a:lnTo>
                    <a:pt x="369093" y="20637"/>
                  </a:lnTo>
                  <a:lnTo>
                    <a:pt x="414337" y="45243"/>
                  </a:lnTo>
                  <a:lnTo>
                    <a:pt x="453231" y="77787"/>
                  </a:lnTo>
                  <a:lnTo>
                    <a:pt x="485775" y="116681"/>
                  </a:lnTo>
                  <a:lnTo>
                    <a:pt x="510381" y="161925"/>
                  </a:lnTo>
                  <a:lnTo>
                    <a:pt x="525462" y="211931"/>
                  </a:lnTo>
                  <a:lnTo>
                    <a:pt x="531018" y="265112"/>
                  </a:lnTo>
                  <a:lnTo>
                    <a:pt x="525462" y="318293"/>
                  </a:lnTo>
                  <a:lnTo>
                    <a:pt x="510381" y="368300"/>
                  </a:lnTo>
                  <a:lnTo>
                    <a:pt x="485775" y="413543"/>
                  </a:lnTo>
                  <a:lnTo>
                    <a:pt x="453231" y="452437"/>
                  </a:lnTo>
                  <a:lnTo>
                    <a:pt x="414337" y="484981"/>
                  </a:lnTo>
                  <a:lnTo>
                    <a:pt x="369093" y="509587"/>
                  </a:lnTo>
                  <a:lnTo>
                    <a:pt x="319087" y="524668"/>
                  </a:lnTo>
                  <a:lnTo>
                    <a:pt x="265906" y="530225"/>
                  </a:lnTo>
                  <a:lnTo>
                    <a:pt x="211931" y="524668"/>
                  </a:lnTo>
                  <a:lnTo>
                    <a:pt x="162718" y="509587"/>
                  </a:lnTo>
                  <a:lnTo>
                    <a:pt x="117475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43A04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3162300"/>
              <a:ext cx="8775700" cy="990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11480" y="3282696"/>
              <a:ext cx="8412480" cy="713740"/>
            </a:xfrm>
            <a:custGeom>
              <a:avLst/>
              <a:gdLst/>
              <a:ahLst/>
              <a:cxnLst/>
              <a:rect l="l" t="t" r="r" b="b"/>
              <a:pathLst>
                <a:path w="8412480" h="713739">
                  <a:moveTo>
                    <a:pt x="0" y="713232"/>
                  </a:moveTo>
                  <a:lnTo>
                    <a:pt x="8412479" y="713232"/>
                  </a:lnTo>
                  <a:lnTo>
                    <a:pt x="8412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20040" y="3282696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0"/>
                  </a:moveTo>
                  <a:lnTo>
                    <a:pt x="8503919" y="0"/>
                  </a:lnTo>
                  <a:lnTo>
                    <a:pt x="8503919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A72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320040" y="3282696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91440" y="713232"/>
                  </a:moveTo>
                  <a:lnTo>
                    <a:pt x="0" y="713232"/>
                  </a:lnTo>
                  <a:lnTo>
                    <a:pt x="0" y="0"/>
                  </a:lnTo>
                  <a:lnTo>
                    <a:pt x="91440" y="0"/>
                  </a:lnTo>
                  <a:lnTo>
                    <a:pt x="91440" y="713232"/>
                  </a:lnTo>
                  <a:close/>
                </a:path>
              </a:pathLst>
            </a:custGeom>
            <a:solidFill>
              <a:srgbClr val="FFA72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040" y="3282696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0" y="0"/>
                  </a:moveTo>
                  <a:lnTo>
                    <a:pt x="91440" y="0"/>
                  </a:lnTo>
                  <a:lnTo>
                    <a:pt x="914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A72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48640" y="3374135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176" y="530352"/>
                  </a:moveTo>
                  <a:lnTo>
                    <a:pt x="217510" y="526079"/>
                  </a:lnTo>
                  <a:lnTo>
                    <a:pt x="172647" y="513762"/>
                  </a:lnTo>
                  <a:lnTo>
                    <a:pt x="131336" y="494147"/>
                  </a:lnTo>
                  <a:lnTo>
                    <a:pt x="94326" y="467986"/>
                  </a:lnTo>
                  <a:lnTo>
                    <a:pt x="62366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6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6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5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6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6"/>
                  </a:lnTo>
                  <a:lnTo>
                    <a:pt x="399015" y="494147"/>
                  </a:lnTo>
                  <a:lnTo>
                    <a:pt x="357704" y="513762"/>
                  </a:lnTo>
                  <a:lnTo>
                    <a:pt x="312841" y="526079"/>
                  </a:lnTo>
                  <a:lnTo>
                    <a:pt x="265176" y="530352"/>
                  </a:lnTo>
                  <a:close/>
                </a:path>
              </a:pathLst>
            </a:custGeom>
            <a:solidFill>
              <a:srgbClr val="FFA72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549275" y="3374231"/>
              <a:ext cx="530225" cy="531495"/>
            </a:xfrm>
            <a:custGeom>
              <a:avLst/>
              <a:gdLst/>
              <a:ahLst/>
              <a:cxnLst/>
              <a:rect l="l" t="t" r="r" b="b"/>
              <a:pathLst>
                <a:path w="530225" h="53149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6681" y="45243"/>
                  </a:lnTo>
                  <a:lnTo>
                    <a:pt x="161925" y="20637"/>
                  </a:lnTo>
                  <a:lnTo>
                    <a:pt x="211931" y="5556"/>
                  </a:lnTo>
                  <a:lnTo>
                    <a:pt x="265112" y="0"/>
                  </a:lnTo>
                  <a:lnTo>
                    <a:pt x="318293" y="5556"/>
                  </a:lnTo>
                  <a:lnTo>
                    <a:pt x="368300" y="20637"/>
                  </a:lnTo>
                  <a:lnTo>
                    <a:pt x="413543" y="45243"/>
                  </a:lnTo>
                  <a:lnTo>
                    <a:pt x="452437" y="77787"/>
                  </a:lnTo>
                  <a:lnTo>
                    <a:pt x="484981" y="116681"/>
                  </a:lnTo>
                  <a:lnTo>
                    <a:pt x="509587" y="161925"/>
                  </a:lnTo>
                  <a:lnTo>
                    <a:pt x="524668" y="211931"/>
                  </a:lnTo>
                  <a:lnTo>
                    <a:pt x="530225" y="265112"/>
                  </a:lnTo>
                  <a:lnTo>
                    <a:pt x="524668" y="319087"/>
                  </a:lnTo>
                  <a:lnTo>
                    <a:pt x="509587" y="368300"/>
                  </a:lnTo>
                  <a:lnTo>
                    <a:pt x="484981" y="413543"/>
                  </a:lnTo>
                  <a:lnTo>
                    <a:pt x="452437" y="453231"/>
                  </a:lnTo>
                  <a:lnTo>
                    <a:pt x="413543" y="485775"/>
                  </a:lnTo>
                  <a:lnTo>
                    <a:pt x="368300" y="510381"/>
                  </a:lnTo>
                  <a:lnTo>
                    <a:pt x="318293" y="525462"/>
                  </a:lnTo>
                  <a:lnTo>
                    <a:pt x="265112" y="531018"/>
                  </a:lnTo>
                  <a:lnTo>
                    <a:pt x="211931" y="525462"/>
                  </a:lnTo>
                  <a:lnTo>
                    <a:pt x="161925" y="510381"/>
                  </a:lnTo>
                  <a:lnTo>
                    <a:pt x="116681" y="485775"/>
                  </a:lnTo>
                  <a:lnTo>
                    <a:pt x="77787" y="453231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9087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FFA72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64437" y="4678070"/>
            <a:ext cx="2573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867" b="1" spc="-33" dirty="0">
                <a:solidFill>
                  <a:srgbClr val="0A1628"/>
                </a:solidFill>
                <a:latin typeface="Calibri"/>
                <a:cs typeface="Calibri"/>
              </a:rPr>
              <a:t>04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67841" y="4361937"/>
            <a:ext cx="4400127" cy="775491"/>
          </a:xfrm>
          <a:prstGeom prst="rect">
            <a:avLst/>
          </a:prstGeom>
        </p:spPr>
        <p:txBody>
          <a:bodyPr vert="horz" wrap="square" lIns="0" tIns="138007" rIns="0" bIns="0" rtlCol="0">
            <a:spAutoFit/>
          </a:bodyPr>
          <a:lstStyle/>
          <a:p>
            <a:pPr>
              <a:spcBef>
                <a:spcPts val="1087"/>
              </a:spcBef>
            </a:pPr>
            <a:r>
              <a:rPr sz="1867" b="1" dirty="0">
                <a:solidFill>
                  <a:srgbClr val="FFA726"/>
                </a:solidFill>
                <a:latin typeface="Calibri"/>
                <a:cs typeface="Calibri"/>
              </a:rPr>
              <a:t>Alertes</a:t>
            </a:r>
            <a:r>
              <a:rPr sz="1867" b="1" spc="-67" dirty="0">
                <a:solidFill>
                  <a:srgbClr val="FFA726"/>
                </a:solidFill>
                <a:latin typeface="Calibri"/>
                <a:cs typeface="Calibri"/>
              </a:rPr>
              <a:t> </a:t>
            </a:r>
            <a:r>
              <a:rPr sz="1867" b="1" spc="-13" dirty="0">
                <a:solidFill>
                  <a:srgbClr val="FFA726"/>
                </a:solidFill>
                <a:latin typeface="Calibri"/>
                <a:cs typeface="Calibri"/>
              </a:rPr>
              <a:t>Automatiques</a:t>
            </a:r>
            <a:endParaRPr sz="1867">
              <a:latin typeface="Calibri"/>
              <a:cs typeface="Calibri"/>
            </a:endParaRPr>
          </a:p>
          <a:p>
            <a:pPr>
              <a:spcBef>
                <a:spcPts val="813"/>
              </a:spcBef>
            </a:pP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Notifications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cas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 dépassement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du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seuil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critique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03200" y="4490509"/>
            <a:ext cx="11700933" cy="2114127"/>
            <a:chOff x="152400" y="3367881"/>
            <a:chExt cx="8775700" cy="1585595"/>
          </a:xfrm>
        </p:grpSpPr>
        <p:sp>
          <p:nvSpPr>
            <p:cNvPr id="54" name="object 54"/>
            <p:cNvSpPr/>
            <p:nvPr/>
          </p:nvSpPr>
          <p:spPr>
            <a:xfrm>
              <a:off x="7543800" y="3374135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5176" y="530352"/>
                  </a:moveTo>
                  <a:lnTo>
                    <a:pt x="217510" y="526079"/>
                  </a:lnTo>
                  <a:lnTo>
                    <a:pt x="172647" y="513762"/>
                  </a:lnTo>
                  <a:lnTo>
                    <a:pt x="131336" y="494147"/>
                  </a:lnTo>
                  <a:lnTo>
                    <a:pt x="94326" y="467986"/>
                  </a:lnTo>
                  <a:lnTo>
                    <a:pt x="62365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6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5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6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6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6"/>
                  </a:lnTo>
                  <a:lnTo>
                    <a:pt x="399015" y="494147"/>
                  </a:lnTo>
                  <a:lnTo>
                    <a:pt x="357704" y="513762"/>
                  </a:lnTo>
                  <a:lnTo>
                    <a:pt x="312841" y="526079"/>
                  </a:lnTo>
                  <a:lnTo>
                    <a:pt x="265176" y="530352"/>
                  </a:lnTo>
                  <a:close/>
                </a:path>
              </a:pathLst>
            </a:custGeom>
            <a:solidFill>
              <a:srgbClr val="FFA72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7543800" y="3374231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7475" y="45243"/>
                  </a:lnTo>
                  <a:lnTo>
                    <a:pt x="162718" y="20637"/>
                  </a:lnTo>
                  <a:lnTo>
                    <a:pt x="211931" y="5556"/>
                  </a:lnTo>
                  <a:lnTo>
                    <a:pt x="265906" y="0"/>
                  </a:lnTo>
                  <a:lnTo>
                    <a:pt x="319087" y="5556"/>
                  </a:lnTo>
                  <a:lnTo>
                    <a:pt x="369093" y="20637"/>
                  </a:lnTo>
                  <a:lnTo>
                    <a:pt x="414337" y="45243"/>
                  </a:lnTo>
                  <a:lnTo>
                    <a:pt x="453231" y="77787"/>
                  </a:lnTo>
                  <a:lnTo>
                    <a:pt x="485775" y="116681"/>
                  </a:lnTo>
                  <a:lnTo>
                    <a:pt x="510381" y="161925"/>
                  </a:lnTo>
                  <a:lnTo>
                    <a:pt x="525462" y="211931"/>
                  </a:lnTo>
                  <a:lnTo>
                    <a:pt x="531018" y="265112"/>
                  </a:lnTo>
                  <a:lnTo>
                    <a:pt x="525462" y="319087"/>
                  </a:lnTo>
                  <a:lnTo>
                    <a:pt x="510381" y="368300"/>
                  </a:lnTo>
                  <a:lnTo>
                    <a:pt x="485775" y="413543"/>
                  </a:lnTo>
                  <a:lnTo>
                    <a:pt x="453231" y="453231"/>
                  </a:lnTo>
                  <a:lnTo>
                    <a:pt x="414337" y="485775"/>
                  </a:lnTo>
                  <a:lnTo>
                    <a:pt x="369093" y="510381"/>
                  </a:lnTo>
                  <a:lnTo>
                    <a:pt x="319087" y="525462"/>
                  </a:lnTo>
                  <a:lnTo>
                    <a:pt x="265906" y="531018"/>
                  </a:lnTo>
                  <a:lnTo>
                    <a:pt x="211931" y="525462"/>
                  </a:lnTo>
                  <a:lnTo>
                    <a:pt x="162718" y="510381"/>
                  </a:lnTo>
                  <a:lnTo>
                    <a:pt x="117475" y="485775"/>
                  </a:lnTo>
                  <a:lnTo>
                    <a:pt x="77787" y="453231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9087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FFA72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3962400"/>
              <a:ext cx="8775700" cy="990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11480" y="4087367"/>
              <a:ext cx="8412480" cy="713740"/>
            </a:xfrm>
            <a:custGeom>
              <a:avLst/>
              <a:gdLst/>
              <a:ahLst/>
              <a:cxnLst/>
              <a:rect l="l" t="t" r="r" b="b"/>
              <a:pathLst>
                <a:path w="8412480" h="713739">
                  <a:moveTo>
                    <a:pt x="0" y="713232"/>
                  </a:moveTo>
                  <a:lnTo>
                    <a:pt x="8412479" y="713232"/>
                  </a:lnTo>
                  <a:lnTo>
                    <a:pt x="8412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0D3B6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320040" y="4087367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0"/>
                  </a:moveTo>
                  <a:lnTo>
                    <a:pt x="8503919" y="0"/>
                  </a:lnTo>
                  <a:lnTo>
                    <a:pt x="8503919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9F0A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320040" y="4087367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91440" y="713232"/>
                  </a:moveTo>
                  <a:lnTo>
                    <a:pt x="0" y="713232"/>
                  </a:lnTo>
                  <a:lnTo>
                    <a:pt x="0" y="0"/>
                  </a:lnTo>
                  <a:lnTo>
                    <a:pt x="91440" y="0"/>
                  </a:lnTo>
                  <a:lnTo>
                    <a:pt x="91440" y="713232"/>
                  </a:lnTo>
                  <a:close/>
                </a:path>
              </a:pathLst>
            </a:custGeom>
            <a:solidFill>
              <a:srgbClr val="69F0A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320040" y="4087367"/>
              <a:ext cx="91440" cy="713740"/>
            </a:xfrm>
            <a:custGeom>
              <a:avLst/>
              <a:gdLst/>
              <a:ahLst/>
              <a:cxnLst/>
              <a:rect l="l" t="t" r="r" b="b"/>
              <a:pathLst>
                <a:path w="91440" h="713739">
                  <a:moveTo>
                    <a:pt x="0" y="0"/>
                  </a:moveTo>
                  <a:lnTo>
                    <a:pt x="91440" y="0"/>
                  </a:lnTo>
                  <a:lnTo>
                    <a:pt x="914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9F0A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548640" y="4178808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176" y="530352"/>
                  </a:moveTo>
                  <a:lnTo>
                    <a:pt x="217510" y="526079"/>
                  </a:lnTo>
                  <a:lnTo>
                    <a:pt x="172647" y="513762"/>
                  </a:lnTo>
                  <a:lnTo>
                    <a:pt x="131336" y="494147"/>
                  </a:lnTo>
                  <a:lnTo>
                    <a:pt x="94326" y="467986"/>
                  </a:lnTo>
                  <a:lnTo>
                    <a:pt x="62366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6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6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5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6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6"/>
                  </a:lnTo>
                  <a:lnTo>
                    <a:pt x="399015" y="494147"/>
                  </a:lnTo>
                  <a:lnTo>
                    <a:pt x="357704" y="513762"/>
                  </a:lnTo>
                  <a:lnTo>
                    <a:pt x="312841" y="526079"/>
                  </a:lnTo>
                  <a:lnTo>
                    <a:pt x="265176" y="530352"/>
                  </a:lnTo>
                  <a:close/>
                </a:path>
              </a:pathLst>
            </a:custGeom>
            <a:solidFill>
              <a:srgbClr val="69F0A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549275" y="4179093"/>
              <a:ext cx="530225" cy="530225"/>
            </a:xfrm>
            <a:custGeom>
              <a:avLst/>
              <a:gdLst/>
              <a:ahLst/>
              <a:cxnLst/>
              <a:rect l="l" t="t" r="r" b="b"/>
              <a:pathLst>
                <a:path w="53022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6681" y="45243"/>
                  </a:lnTo>
                  <a:lnTo>
                    <a:pt x="161925" y="20637"/>
                  </a:lnTo>
                  <a:lnTo>
                    <a:pt x="211931" y="5556"/>
                  </a:lnTo>
                  <a:lnTo>
                    <a:pt x="265112" y="0"/>
                  </a:lnTo>
                  <a:lnTo>
                    <a:pt x="318293" y="5556"/>
                  </a:lnTo>
                  <a:lnTo>
                    <a:pt x="368300" y="20637"/>
                  </a:lnTo>
                  <a:lnTo>
                    <a:pt x="413543" y="45243"/>
                  </a:lnTo>
                  <a:lnTo>
                    <a:pt x="452437" y="77787"/>
                  </a:lnTo>
                  <a:lnTo>
                    <a:pt x="484981" y="116681"/>
                  </a:lnTo>
                  <a:lnTo>
                    <a:pt x="509587" y="161925"/>
                  </a:lnTo>
                  <a:lnTo>
                    <a:pt x="524668" y="211931"/>
                  </a:lnTo>
                  <a:lnTo>
                    <a:pt x="530225" y="265112"/>
                  </a:lnTo>
                  <a:lnTo>
                    <a:pt x="524668" y="318293"/>
                  </a:lnTo>
                  <a:lnTo>
                    <a:pt x="509587" y="368300"/>
                  </a:lnTo>
                  <a:lnTo>
                    <a:pt x="484981" y="413543"/>
                  </a:lnTo>
                  <a:lnTo>
                    <a:pt x="452437" y="452437"/>
                  </a:lnTo>
                  <a:lnTo>
                    <a:pt x="413543" y="484981"/>
                  </a:lnTo>
                  <a:lnTo>
                    <a:pt x="368300" y="509587"/>
                  </a:lnTo>
                  <a:lnTo>
                    <a:pt x="318293" y="524668"/>
                  </a:lnTo>
                  <a:lnTo>
                    <a:pt x="265112" y="530225"/>
                  </a:lnTo>
                  <a:lnTo>
                    <a:pt x="211931" y="524668"/>
                  </a:lnTo>
                  <a:lnTo>
                    <a:pt x="161925" y="509587"/>
                  </a:lnTo>
                  <a:lnTo>
                    <a:pt x="116681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69F0A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964437" y="5750967"/>
            <a:ext cx="2573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867" b="1" spc="-33" dirty="0">
                <a:solidFill>
                  <a:srgbClr val="0A1628"/>
                </a:solidFill>
                <a:latin typeface="Calibri"/>
                <a:cs typeface="Calibri"/>
              </a:rPr>
              <a:t>05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767841" y="5434833"/>
            <a:ext cx="4237567" cy="775491"/>
          </a:xfrm>
          <a:prstGeom prst="rect">
            <a:avLst/>
          </a:prstGeom>
        </p:spPr>
        <p:txBody>
          <a:bodyPr vert="horz" wrap="square" lIns="0" tIns="138007" rIns="0" bIns="0" rtlCol="0">
            <a:spAutoFit/>
          </a:bodyPr>
          <a:lstStyle/>
          <a:p>
            <a:pPr>
              <a:spcBef>
                <a:spcPts val="1087"/>
              </a:spcBef>
            </a:pPr>
            <a:r>
              <a:rPr sz="1867" b="1" dirty="0">
                <a:solidFill>
                  <a:srgbClr val="69F0AE"/>
                </a:solidFill>
                <a:latin typeface="Calibri"/>
                <a:cs typeface="Calibri"/>
              </a:rPr>
              <a:t>Réduction</a:t>
            </a:r>
            <a:r>
              <a:rPr sz="1867" b="1" spc="-27" dirty="0">
                <a:solidFill>
                  <a:srgbClr val="69F0AE"/>
                </a:solidFill>
                <a:latin typeface="Calibri"/>
                <a:cs typeface="Calibri"/>
              </a:rPr>
              <a:t> </a:t>
            </a:r>
            <a:r>
              <a:rPr sz="1867" b="1" dirty="0">
                <a:solidFill>
                  <a:srgbClr val="69F0AE"/>
                </a:solidFill>
                <a:latin typeface="Calibri"/>
                <a:cs typeface="Calibri"/>
              </a:rPr>
              <a:t>des</a:t>
            </a:r>
            <a:r>
              <a:rPr sz="1867" b="1" spc="-13" dirty="0">
                <a:solidFill>
                  <a:srgbClr val="69F0AE"/>
                </a:solidFill>
                <a:latin typeface="Calibri"/>
                <a:cs typeface="Calibri"/>
              </a:rPr>
              <a:t> Coûts</a:t>
            </a:r>
            <a:endParaRPr sz="1867">
              <a:latin typeface="Calibri"/>
              <a:cs typeface="Calibri"/>
            </a:endParaRPr>
          </a:p>
          <a:p>
            <a:pPr>
              <a:spcBef>
                <a:spcPts val="813"/>
              </a:spcBef>
            </a:pP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Optimisation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des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tournées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collecte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0BEC5"/>
                </a:solidFill>
                <a:latin typeface="Calibri"/>
                <a:cs typeface="Calibri"/>
              </a:rPr>
              <a:t>jusqu'à</a:t>
            </a:r>
            <a:r>
              <a:rPr sz="1600" spc="-27" dirty="0">
                <a:solidFill>
                  <a:srgbClr val="B0BEC5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B0BEC5"/>
                </a:solidFill>
                <a:latin typeface="Calibri"/>
                <a:cs typeface="Calibri"/>
              </a:rPr>
              <a:t>-</a:t>
            </a:r>
            <a:r>
              <a:rPr sz="1600" spc="-33" dirty="0">
                <a:solidFill>
                  <a:srgbClr val="B0BEC5"/>
                </a:solidFill>
                <a:latin typeface="Calibri"/>
                <a:cs typeface="Calibri"/>
              </a:rPr>
              <a:t>40%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0049934" y="5563658"/>
            <a:ext cx="725593" cy="723900"/>
            <a:chOff x="7537450" y="4172743"/>
            <a:chExt cx="544195" cy="542925"/>
          </a:xfrm>
        </p:grpSpPr>
        <p:sp>
          <p:nvSpPr>
            <p:cNvPr id="66" name="object 66"/>
            <p:cNvSpPr/>
            <p:nvPr/>
          </p:nvSpPr>
          <p:spPr>
            <a:xfrm>
              <a:off x="7543800" y="4178808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5176" y="530352"/>
                  </a:moveTo>
                  <a:lnTo>
                    <a:pt x="217510" y="526079"/>
                  </a:lnTo>
                  <a:lnTo>
                    <a:pt x="172647" y="513762"/>
                  </a:lnTo>
                  <a:lnTo>
                    <a:pt x="131336" y="494147"/>
                  </a:lnTo>
                  <a:lnTo>
                    <a:pt x="94326" y="467986"/>
                  </a:lnTo>
                  <a:lnTo>
                    <a:pt x="62365" y="436025"/>
                  </a:lnTo>
                  <a:lnTo>
                    <a:pt x="36204" y="399015"/>
                  </a:lnTo>
                  <a:lnTo>
                    <a:pt x="16590" y="357704"/>
                  </a:lnTo>
                  <a:lnTo>
                    <a:pt x="4272" y="312841"/>
                  </a:lnTo>
                  <a:lnTo>
                    <a:pt x="0" y="265176"/>
                  </a:lnTo>
                  <a:lnTo>
                    <a:pt x="4272" y="217510"/>
                  </a:lnTo>
                  <a:lnTo>
                    <a:pt x="16590" y="172647"/>
                  </a:lnTo>
                  <a:lnTo>
                    <a:pt x="36204" y="131336"/>
                  </a:lnTo>
                  <a:lnTo>
                    <a:pt x="62365" y="94326"/>
                  </a:lnTo>
                  <a:lnTo>
                    <a:pt x="94326" y="62366"/>
                  </a:lnTo>
                  <a:lnTo>
                    <a:pt x="131336" y="36204"/>
                  </a:lnTo>
                  <a:lnTo>
                    <a:pt x="172647" y="16590"/>
                  </a:lnTo>
                  <a:lnTo>
                    <a:pt x="217510" y="4272"/>
                  </a:lnTo>
                  <a:lnTo>
                    <a:pt x="265176" y="0"/>
                  </a:lnTo>
                  <a:lnTo>
                    <a:pt x="312841" y="4272"/>
                  </a:lnTo>
                  <a:lnTo>
                    <a:pt x="357704" y="16590"/>
                  </a:lnTo>
                  <a:lnTo>
                    <a:pt x="399015" y="36204"/>
                  </a:lnTo>
                  <a:lnTo>
                    <a:pt x="436025" y="62366"/>
                  </a:lnTo>
                  <a:lnTo>
                    <a:pt x="467985" y="94326"/>
                  </a:lnTo>
                  <a:lnTo>
                    <a:pt x="494147" y="131336"/>
                  </a:lnTo>
                  <a:lnTo>
                    <a:pt x="513761" y="172647"/>
                  </a:lnTo>
                  <a:lnTo>
                    <a:pt x="526079" y="217510"/>
                  </a:lnTo>
                  <a:lnTo>
                    <a:pt x="530352" y="265176"/>
                  </a:lnTo>
                  <a:lnTo>
                    <a:pt x="526079" y="312841"/>
                  </a:lnTo>
                  <a:lnTo>
                    <a:pt x="513761" y="357704"/>
                  </a:lnTo>
                  <a:lnTo>
                    <a:pt x="494147" y="399015"/>
                  </a:lnTo>
                  <a:lnTo>
                    <a:pt x="467985" y="436025"/>
                  </a:lnTo>
                  <a:lnTo>
                    <a:pt x="436025" y="467986"/>
                  </a:lnTo>
                  <a:lnTo>
                    <a:pt x="399015" y="494147"/>
                  </a:lnTo>
                  <a:lnTo>
                    <a:pt x="357704" y="513762"/>
                  </a:lnTo>
                  <a:lnTo>
                    <a:pt x="312841" y="526079"/>
                  </a:lnTo>
                  <a:lnTo>
                    <a:pt x="265176" y="530352"/>
                  </a:lnTo>
                  <a:close/>
                </a:path>
              </a:pathLst>
            </a:custGeom>
            <a:solidFill>
              <a:srgbClr val="69F0A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7543800" y="4179093"/>
              <a:ext cx="531495" cy="530225"/>
            </a:xfrm>
            <a:custGeom>
              <a:avLst/>
              <a:gdLst/>
              <a:ahLst/>
              <a:cxnLst/>
              <a:rect l="l" t="t" r="r" b="b"/>
              <a:pathLst>
                <a:path w="531495" h="530225">
                  <a:moveTo>
                    <a:pt x="0" y="265112"/>
                  </a:moveTo>
                  <a:lnTo>
                    <a:pt x="5556" y="211931"/>
                  </a:lnTo>
                  <a:lnTo>
                    <a:pt x="20637" y="161925"/>
                  </a:lnTo>
                  <a:lnTo>
                    <a:pt x="45243" y="116681"/>
                  </a:lnTo>
                  <a:lnTo>
                    <a:pt x="77787" y="77787"/>
                  </a:lnTo>
                  <a:lnTo>
                    <a:pt x="117475" y="45243"/>
                  </a:lnTo>
                  <a:lnTo>
                    <a:pt x="162718" y="20637"/>
                  </a:lnTo>
                  <a:lnTo>
                    <a:pt x="211931" y="5556"/>
                  </a:lnTo>
                  <a:lnTo>
                    <a:pt x="265906" y="0"/>
                  </a:lnTo>
                  <a:lnTo>
                    <a:pt x="319087" y="5556"/>
                  </a:lnTo>
                  <a:lnTo>
                    <a:pt x="369093" y="20637"/>
                  </a:lnTo>
                  <a:lnTo>
                    <a:pt x="414337" y="45243"/>
                  </a:lnTo>
                  <a:lnTo>
                    <a:pt x="453231" y="77787"/>
                  </a:lnTo>
                  <a:lnTo>
                    <a:pt x="485775" y="116681"/>
                  </a:lnTo>
                  <a:lnTo>
                    <a:pt x="510381" y="161925"/>
                  </a:lnTo>
                  <a:lnTo>
                    <a:pt x="525462" y="211931"/>
                  </a:lnTo>
                  <a:lnTo>
                    <a:pt x="531018" y="265112"/>
                  </a:lnTo>
                  <a:lnTo>
                    <a:pt x="525462" y="318293"/>
                  </a:lnTo>
                  <a:lnTo>
                    <a:pt x="510381" y="368300"/>
                  </a:lnTo>
                  <a:lnTo>
                    <a:pt x="485775" y="413543"/>
                  </a:lnTo>
                  <a:lnTo>
                    <a:pt x="453231" y="452437"/>
                  </a:lnTo>
                  <a:lnTo>
                    <a:pt x="414337" y="484981"/>
                  </a:lnTo>
                  <a:lnTo>
                    <a:pt x="369093" y="509587"/>
                  </a:lnTo>
                  <a:lnTo>
                    <a:pt x="319087" y="524668"/>
                  </a:lnTo>
                  <a:lnTo>
                    <a:pt x="265906" y="530225"/>
                  </a:lnTo>
                  <a:lnTo>
                    <a:pt x="211931" y="524668"/>
                  </a:lnTo>
                  <a:lnTo>
                    <a:pt x="162718" y="509587"/>
                  </a:lnTo>
                  <a:lnTo>
                    <a:pt x="117475" y="484981"/>
                  </a:lnTo>
                  <a:lnTo>
                    <a:pt x="77787" y="452437"/>
                  </a:lnTo>
                  <a:lnTo>
                    <a:pt x="45243" y="413543"/>
                  </a:lnTo>
                  <a:lnTo>
                    <a:pt x="20637" y="368300"/>
                  </a:lnTo>
                  <a:lnTo>
                    <a:pt x="5556" y="318293"/>
                  </a:lnTo>
                  <a:lnTo>
                    <a:pt x="0" y="265112"/>
                  </a:lnTo>
                  <a:close/>
                </a:path>
              </a:pathLst>
            </a:custGeom>
            <a:ln w="12700">
              <a:solidFill>
                <a:srgbClr val="69F0A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8" name="ZoneTexte 67">
            <a:extLst>
              <a:ext uri="{FF2B5EF4-FFF2-40B4-BE49-F238E27FC236}">
                <a16:creationId xmlns:a16="http://schemas.microsoft.com/office/drawing/2014/main" id="{9A9CE732-8E84-B4DB-2042-0AEF2F31CECF}"/>
              </a:ext>
            </a:extLst>
          </p:cNvPr>
          <p:cNvSpPr txBox="1"/>
          <p:nvPr/>
        </p:nvSpPr>
        <p:spPr>
          <a:xfrm>
            <a:off x="548640" y="27432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spc="-13" dirty="0"/>
              <a:t>Solution Proposée </a:t>
            </a:r>
            <a:endParaRPr lang="fr-MA" sz="3600" b="1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C371CF79-C9D5-6A8C-E0F4-B33F0E8158E0}"/>
              </a:ext>
            </a:extLst>
          </p:cNvPr>
          <p:cNvSpPr/>
          <p:nvPr/>
        </p:nvSpPr>
        <p:spPr>
          <a:xfrm>
            <a:off x="11490226" y="6515944"/>
            <a:ext cx="554454" cy="23029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3" name="Google Shape;113;p7"/>
          <p:cNvSpPr/>
          <p:nvPr/>
        </p:nvSpPr>
        <p:spPr>
          <a:xfrm>
            <a:off x="-1463040" y="-1463040"/>
            <a:ext cx="4876800" cy="48768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4" name="Google Shape;114;p7"/>
          <p:cNvSpPr/>
          <p:nvPr/>
        </p:nvSpPr>
        <p:spPr>
          <a:xfrm>
            <a:off x="9265920" y="3931921"/>
            <a:ext cx="3657600" cy="36576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5" name="Google Shape;11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0"/>
            <a:ext cx="12192000" cy="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3273377" y="3534271"/>
            <a:ext cx="5645151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2000"/>
              </a:lnSpc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273377" y="3823692"/>
            <a:ext cx="564515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FFFFFF"/>
              </a:buClr>
              <a:buSzPts val="3600"/>
            </a:pPr>
            <a:r>
              <a:rPr lang="en-US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Diagrammes UML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730777" y="4571405"/>
            <a:ext cx="730249" cy="25400"/>
          </a:xfrm>
          <a:prstGeom prst="rect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0" name="Google Shape;120;p7"/>
          <p:cNvSpPr/>
          <p:nvPr/>
        </p:nvSpPr>
        <p:spPr>
          <a:xfrm>
            <a:off x="3273377" y="4735909"/>
            <a:ext cx="5645151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1200"/>
              </a:lnSpc>
              <a:buClr>
                <a:srgbClr val="FFFFFF"/>
              </a:buClr>
              <a:buSzPts val="1000"/>
            </a:pPr>
            <a:r>
              <a:rPr lang="en-US" sz="13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 d'utilisation · Classes · Séquence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10742" y="6468815"/>
            <a:ext cx="2044700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700"/>
            </a:pPr>
            <a:r>
              <a:rPr lang="en-US" sz="933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02041"/>
            <a:ext cx="12192000" cy="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A2342"/>
              </a:buClr>
              <a:buSzPts val="3600"/>
            </a:pPr>
            <a:r>
              <a:rPr lang="en-US" sz="48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240C101-EE34-38C0-DB60-7FD48FCA6AC7}"/>
              </a:ext>
            </a:extLst>
          </p:cNvPr>
          <p:cNvSpPr/>
          <p:nvPr/>
        </p:nvSpPr>
        <p:spPr>
          <a:xfrm>
            <a:off x="11490226" y="6515944"/>
            <a:ext cx="630654" cy="19981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96" name="Google Shape;9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608657" y="280591"/>
            <a:ext cx="1720851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10791" y="476697"/>
            <a:ext cx="6365743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2100"/>
            </a:pPr>
            <a:r>
              <a:rPr lang="en-US" sz="2800" b="1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8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 de Cas </a:t>
            </a:r>
            <a:r>
              <a:rPr lang="en-US" sz="2800" b="1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683521" y="1235076"/>
            <a:ext cx="8775700" cy="5073649"/>
          </a:xfrm>
          <a:prstGeom prst="roundRect">
            <a:avLst>
              <a:gd name="adj" fmla="val 722"/>
            </a:avLst>
          </a:prstGeom>
          <a:solidFill>
            <a:srgbClr val="FFFFFF"/>
          </a:solidFill>
          <a:ln w="9525" cap="flat" cmpd="sng">
            <a:solidFill>
              <a:srgbClr val="0A2342"/>
            </a:solidFill>
            <a:prstDash val="dash"/>
            <a:round/>
            <a:headEnd type="none" w="sm" len="sm"/>
            <a:tailEnd type="none" w="sm" len="sm"/>
          </a:ln>
          <a:effectLst>
            <a:outerShdw blurRad="95250" dist="19050" dir="5400000" algn="bl" rotWithShape="0">
              <a:srgbClr val="0A2342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3" name="Google Shape;113;p6"/>
          <p:cNvSpPr/>
          <p:nvPr/>
        </p:nvSpPr>
        <p:spPr>
          <a:xfrm>
            <a:off x="643003" y="6346825"/>
            <a:ext cx="816555" cy="367225"/>
          </a:xfrm>
          <a:prstGeom prst="roundRect">
            <a:avLst>
              <a:gd name="adj" fmla="val 54545"/>
            </a:avLst>
          </a:prstGeom>
          <a:noFill/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9714"/>
              </a:lnSpc>
              <a:buClr>
                <a:srgbClr val="0A2342"/>
              </a:buClr>
              <a:buSzPts val="700"/>
            </a:pPr>
            <a:r>
              <a:rPr lang="en-US" sz="933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Use Case</a:t>
            </a:r>
            <a:endParaRPr sz="9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823839" y="6416080"/>
            <a:ext cx="304800" cy="3048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5" name="Google Shape;115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6963" y="6489205"/>
            <a:ext cx="158452" cy="158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2224733" y="6416080"/>
            <a:ext cx="589449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9714"/>
              </a:lnSpc>
              <a:buClr>
                <a:srgbClr val="0A2342"/>
              </a:buClr>
              <a:buSzPts val="700"/>
            </a:pPr>
            <a:r>
              <a:rPr lang="en-US" sz="933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Actor</a:t>
            </a:r>
            <a:endParaRPr sz="9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94EC3FC0-8026-0626-BC84-2DD1CBB83A22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07D23D-1E4E-0736-9936-4B2A43C5E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149" y="1265129"/>
            <a:ext cx="8741072" cy="50026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24" name="Google Shape;12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608657" y="280591"/>
            <a:ext cx="1720851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10146" y="476697"/>
            <a:ext cx="5809308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2100"/>
            </a:pPr>
            <a:r>
              <a:rPr lang="en-US" sz="2800" b="1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8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 de Classes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D528A7D8-54B7-5510-D23C-927D26EDCE6E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2CD1B9-BF88-5FBC-9306-99AD50BF2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806" y="1417091"/>
            <a:ext cx="4997885" cy="4964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90" name="Google Shape;190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9265840" y="3748980"/>
            <a:ext cx="3657600" cy="3657600"/>
          </a:xfrm>
          <a:prstGeom prst="ellipse">
            <a:avLst/>
          </a:prstGeom>
          <a:noFill/>
          <a:ln w="9525" cap="flat" cmpd="sng">
            <a:solidFill>
              <a:srgbClr val="00C896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2" name="Google Shape;192;p8"/>
          <p:cNvSpPr/>
          <p:nvPr/>
        </p:nvSpPr>
        <p:spPr>
          <a:xfrm>
            <a:off x="608657" y="280591"/>
            <a:ext cx="1720851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9898" y="476697"/>
            <a:ext cx="5887423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2100"/>
            </a:pPr>
            <a:r>
              <a:rPr lang="en-US" sz="28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8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Séquence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09898" y="1057871"/>
            <a:ext cx="461010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FFFFF"/>
              </a:buClr>
              <a:buSzPts val="900"/>
            </a:pPr>
            <a:r>
              <a:rPr lang="en-US" sz="12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Scénario</a:t>
            </a:r>
            <a:r>
              <a:rPr lang="en-US" sz="1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: </a:t>
            </a:r>
            <a:r>
              <a:rPr lang="en-US" sz="12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Détection</a:t>
            </a:r>
            <a:r>
              <a:rPr lang="en-US" sz="1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d'une</a:t>
            </a:r>
            <a:r>
              <a:rPr lang="en-US" sz="1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poubelle</a:t>
            </a:r>
            <a:r>
              <a:rPr lang="en-US" sz="1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pleine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1619" y="1580256"/>
            <a:ext cx="69852" cy="418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6139" y="1580256"/>
            <a:ext cx="69852" cy="418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0659" y="1580256"/>
            <a:ext cx="69852" cy="418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5279" y="1580256"/>
            <a:ext cx="69852" cy="418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9799" y="1580256"/>
            <a:ext cx="69852" cy="418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81B81C3-D46F-0AEB-A00F-534B11F44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1" y="1800437"/>
            <a:ext cx="10254591" cy="4348481"/>
          </a:xfrm>
          <a:prstGeom prst="rect">
            <a:avLst/>
          </a:prstGeom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5164E107-E2D1-CFC1-5D55-FB56E9C94F4A}"/>
              </a:ext>
            </a:extLst>
          </p:cNvPr>
          <p:cNvSpPr/>
          <p:nvPr/>
        </p:nvSpPr>
        <p:spPr>
          <a:xfrm>
            <a:off x="11490226" y="6515944"/>
            <a:ext cx="503654" cy="22521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2" name="Google Shape;282;p11"/>
          <p:cNvSpPr/>
          <p:nvPr/>
        </p:nvSpPr>
        <p:spPr>
          <a:xfrm>
            <a:off x="8778240" y="-1463043"/>
            <a:ext cx="4876800" cy="48768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3" name="Google Shape;283;p11"/>
          <p:cNvSpPr/>
          <p:nvPr/>
        </p:nvSpPr>
        <p:spPr>
          <a:xfrm>
            <a:off x="-731520" y="3931921"/>
            <a:ext cx="3657600" cy="36576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284" name="Google Shape;28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0"/>
            <a:ext cx="12192000" cy="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/>
          <p:nvPr/>
        </p:nvSpPr>
        <p:spPr>
          <a:xfrm>
            <a:off x="3797300" y="3534271"/>
            <a:ext cx="45974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62000"/>
              </a:lnSpc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797300" y="3823692"/>
            <a:ext cx="4597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FFFFFF"/>
              </a:buClr>
              <a:buSzPts val="3600"/>
            </a:pPr>
            <a:r>
              <a:rPr lang="en-US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730876" y="4571405"/>
            <a:ext cx="730249" cy="25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9" name="Google Shape;289;p11"/>
          <p:cNvSpPr/>
          <p:nvPr/>
        </p:nvSpPr>
        <p:spPr>
          <a:xfrm>
            <a:off x="3797300" y="4735909"/>
            <a:ext cx="45974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1200"/>
              </a:lnSpc>
              <a:buClr>
                <a:srgbClr val="FFFFFF"/>
              </a:buClr>
              <a:buSzPts val="1000"/>
            </a:pPr>
            <a:r>
              <a:rPr lang="en-US" sz="13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Hardware (EM310-UDL, LoRaWAN) &amp; Software (5 couches)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10742" y="6468815"/>
            <a:ext cx="2044700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700"/>
            </a:pPr>
            <a:r>
              <a:rPr lang="en-US" sz="933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02041"/>
            <a:ext cx="12192000" cy="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5365701" y="1868241"/>
            <a:ext cx="146050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A2342"/>
              </a:buClr>
              <a:buSzPts val="3600"/>
            </a:pPr>
            <a:r>
              <a:rPr lang="en-US" sz="48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III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2528B385-9611-9031-620E-6BD7789C0D7C}"/>
              </a:ext>
            </a:extLst>
          </p:cNvPr>
          <p:cNvSpPr/>
          <p:nvPr/>
        </p:nvSpPr>
        <p:spPr>
          <a:xfrm>
            <a:off x="11490226" y="6515944"/>
            <a:ext cx="503654" cy="22521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0" y="-8352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299" name="Google Shape;29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609998" y="212031"/>
            <a:ext cx="1517649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III. ARCHITECTURE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08162" y="406153"/>
            <a:ext cx="3975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0800"/>
              </a:lnSpc>
              <a:buClr>
                <a:srgbClr val="0A2342"/>
              </a:buClr>
              <a:buSzPts val="2000"/>
            </a:pPr>
            <a:r>
              <a:rPr lang="en-US" sz="2667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Hardware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352508" y="206723"/>
            <a:ext cx="2228851" cy="400051"/>
          </a:xfrm>
          <a:prstGeom prst="roundRect">
            <a:avLst>
              <a:gd name="adj" fmla="val 19350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6000"/>
              </a:lnSpc>
              <a:buClr>
                <a:srgbClr val="00C896"/>
              </a:buClr>
              <a:buSzPts val="900"/>
            </a:pPr>
            <a:r>
              <a:rPr lang="en-US" sz="1200" b="1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IoT · </a:t>
            </a:r>
            <a:r>
              <a:rPr lang="en-US" sz="1200" b="1" dirty="0" err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LoRaWAN</a:t>
            </a:r>
            <a:r>
              <a:rPr lang="en-US" sz="1200" b="1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 · Cloud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09600" y="1132831"/>
            <a:ext cx="10972800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6000"/>
              </a:lnSpc>
              <a:buClr>
                <a:srgbClr val="0A2342"/>
              </a:buClr>
              <a:buSzPts val="900"/>
            </a:pP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Capteur</a:t>
            </a:r>
            <a:r>
              <a:rPr lang="en-US" sz="1200" b="1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LoRaWAN</a:t>
            </a:r>
            <a:r>
              <a:rPr lang="en-US" sz="1200" b="1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Passerelle</a:t>
            </a:r>
            <a:r>
              <a:rPr lang="en-US" sz="1200" b="1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Serveur</a:t>
            </a:r>
            <a:r>
              <a:rPr lang="en-US" sz="1200" b="1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n-US" sz="1200" b="1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1200" b="1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Utilisateur</a:t>
            </a:r>
            <a:r>
              <a:rPr lang="en-US" sz="1200" b="1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 (Web/App)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BB3E93E9-80D2-B5F6-8988-508399496C5A}"/>
              </a:ext>
            </a:extLst>
          </p:cNvPr>
          <p:cNvSpPr/>
          <p:nvPr/>
        </p:nvSpPr>
        <p:spPr>
          <a:xfrm>
            <a:off x="11490226" y="6515945"/>
            <a:ext cx="666214" cy="16018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pic>
        <p:nvPicPr>
          <p:cNvPr id="3" name="Image 2" descr="C:\Users\pc\Downloads\ChatGPT Image 8 avr. 2026, 19_55_15.png">
            <a:extLst>
              <a:ext uri="{FF2B5EF4-FFF2-40B4-BE49-F238E27FC236}">
                <a16:creationId xmlns:a16="http://schemas.microsoft.com/office/drawing/2014/main" id="{4FE79A58-EEA9-B1FE-481E-BE5290601D08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6" b="3195"/>
          <a:stretch>
            <a:fillRect/>
          </a:stretch>
        </p:blipFill>
        <p:spPr bwMode="auto">
          <a:xfrm>
            <a:off x="1484244" y="1626740"/>
            <a:ext cx="9223513" cy="457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271" name="Google Shape;27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609998" y="314921"/>
            <a:ext cx="1517649" cy="18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III. ARCHITECTURE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09947" y="511027"/>
            <a:ext cx="8879493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0A2342"/>
              </a:buClr>
              <a:buSzPts val="2100"/>
            </a:pPr>
            <a:r>
              <a:rPr lang="en-US" sz="28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Software – 5 Couches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42240" y="1395964"/>
            <a:ext cx="6547547" cy="694585"/>
          </a:xfrm>
          <a:prstGeom prst="roundRect">
            <a:avLst>
              <a:gd name="adj" fmla="val 27864"/>
            </a:avLst>
          </a:prstGeom>
          <a:solidFill>
            <a:srgbClr val="0A2342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/>
          </a:p>
        </p:txBody>
      </p:sp>
      <p:sp>
        <p:nvSpPr>
          <p:cNvPr id="275" name="Google Shape;275;p10"/>
          <p:cNvSpPr/>
          <p:nvPr/>
        </p:nvSpPr>
        <p:spPr>
          <a:xfrm>
            <a:off x="263423" y="1525793"/>
            <a:ext cx="263423" cy="443212"/>
          </a:xfrm>
          <a:prstGeom prst="roundRect">
            <a:avLst>
              <a:gd name="adj" fmla="val 12831"/>
            </a:avLst>
          </a:prstGeom>
          <a:solidFill>
            <a:srgbClr val="00C896">
              <a:alpha val="13333"/>
            </a:srgbClr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7090"/>
              </a:lnSpc>
              <a:buClr>
                <a:srgbClr val="00C896"/>
              </a:buClr>
              <a:buSzPts val="1100"/>
            </a:pPr>
            <a:r>
              <a:rPr lang="en-US" sz="1400" b="1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68843" y="1485754"/>
            <a:ext cx="5877848" cy="26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1200"/>
              </a:lnSpc>
              <a:buClr>
                <a:srgbClr val="FFFFFF"/>
              </a:buClr>
              <a:buSzPts val="1000"/>
            </a:pPr>
            <a:r>
              <a:rPr lang="en-US" sz="1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Couche Présentation (Frontend)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868843" y="1753050"/>
            <a:ext cx="5877848" cy="23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FFFFF"/>
              </a:buClr>
              <a:buSzPts val="800"/>
            </a:pPr>
            <a:r>
              <a:rPr lang="en-US" sz="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Interface web ou application mobile · Visualisation des données &amp; gestion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90962" y="2145561"/>
            <a:ext cx="5818873" cy="694585"/>
          </a:xfrm>
          <a:prstGeom prst="roundRect">
            <a:avLst>
              <a:gd name="adj" fmla="val 27864"/>
            </a:avLst>
          </a:prstGeom>
          <a:solidFill>
            <a:srgbClr val="1A3A5C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/>
          </a:p>
        </p:txBody>
      </p:sp>
      <p:sp>
        <p:nvSpPr>
          <p:cNvPr id="279" name="Google Shape;279;p10"/>
          <p:cNvSpPr/>
          <p:nvPr/>
        </p:nvSpPr>
        <p:spPr>
          <a:xfrm>
            <a:off x="873677" y="2261451"/>
            <a:ext cx="263423" cy="443212"/>
          </a:xfrm>
          <a:prstGeom prst="roundRect">
            <a:avLst>
              <a:gd name="adj" fmla="val 12831"/>
            </a:avLst>
          </a:prstGeom>
          <a:solidFill>
            <a:srgbClr val="00C896">
              <a:alpha val="13333"/>
            </a:srgbClr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7090"/>
              </a:lnSpc>
              <a:buClr>
                <a:srgbClr val="00C896"/>
              </a:buClr>
              <a:buSzPts val="1100"/>
            </a:pPr>
            <a:r>
              <a:rPr lang="en-US" sz="1400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423095" y="2235353"/>
            <a:ext cx="5024675" cy="26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1200"/>
              </a:lnSpc>
              <a:buClr>
                <a:srgbClr val="FFFFFF"/>
              </a:buClr>
              <a:buSzPts val="1000"/>
            </a:pPr>
            <a:r>
              <a:rPr lang="en-US" sz="1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Couche API / Backend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423095" y="2502648"/>
            <a:ext cx="5024675" cy="23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FFFFF"/>
              </a:buClr>
              <a:buSzPts val="800"/>
            </a:pPr>
            <a:r>
              <a:rPr lang="en-US" sz="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Gestion des requêtes utilisateurs · Communication avec la base de données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64747" y="2896196"/>
            <a:ext cx="4965701" cy="694585"/>
          </a:xfrm>
          <a:prstGeom prst="roundRect">
            <a:avLst>
              <a:gd name="adj" fmla="val 27864"/>
            </a:avLst>
          </a:prstGeom>
          <a:solidFill>
            <a:srgbClr val="00C896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/>
          </a:p>
        </p:txBody>
      </p:sp>
      <p:sp>
        <p:nvSpPr>
          <p:cNvPr id="283" name="Google Shape;283;p10"/>
          <p:cNvSpPr/>
          <p:nvPr/>
        </p:nvSpPr>
        <p:spPr>
          <a:xfrm>
            <a:off x="1414418" y="2997327"/>
            <a:ext cx="263423" cy="443212"/>
          </a:xfrm>
          <a:prstGeom prst="roundRect">
            <a:avLst>
              <a:gd name="adj" fmla="val 12831"/>
            </a:avLst>
          </a:prstGeom>
          <a:solidFill>
            <a:srgbClr val="0A2342">
              <a:alpha val="13333"/>
            </a:srgbClr>
          </a:solidFill>
          <a:ln w="9525" cap="flat" cmpd="sng">
            <a:solidFill>
              <a:srgbClr val="0A23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7090"/>
              </a:lnSpc>
              <a:buClr>
                <a:srgbClr val="0A2342"/>
              </a:buClr>
              <a:buSzPts val="1100"/>
            </a:pPr>
            <a:r>
              <a:rPr lang="en-US" sz="1400" b="1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974693" y="2984950"/>
            <a:ext cx="4175435" cy="26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1200"/>
              </a:lnSpc>
              <a:buClr>
                <a:srgbClr val="0A2342"/>
              </a:buClr>
              <a:buSzPts val="1000"/>
            </a:pPr>
            <a:r>
              <a:rPr lang="en-US" sz="12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Couche Logique Métier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974693" y="3252245"/>
            <a:ext cx="4175435" cy="23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A2342"/>
              </a:buClr>
              <a:buSzPts val="800"/>
            </a:pPr>
            <a:r>
              <a:rPr lang="en-US" sz="933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Analyse des données · Génération d'alertes · Optimisation des tournées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427393" y="3644340"/>
            <a:ext cx="4116459" cy="694585"/>
          </a:xfrm>
          <a:prstGeom prst="roundRect">
            <a:avLst>
              <a:gd name="adj" fmla="val 27864"/>
            </a:avLst>
          </a:prstGeom>
          <a:solidFill>
            <a:srgbClr val="F4A823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/>
          </a:p>
        </p:txBody>
      </p:sp>
      <p:sp>
        <p:nvSpPr>
          <p:cNvPr id="287" name="Google Shape;287;p10"/>
          <p:cNvSpPr/>
          <p:nvPr/>
        </p:nvSpPr>
        <p:spPr>
          <a:xfrm>
            <a:off x="1921850" y="3765647"/>
            <a:ext cx="263423" cy="443212"/>
          </a:xfrm>
          <a:prstGeom prst="roundRect">
            <a:avLst>
              <a:gd name="adj" fmla="val 12831"/>
            </a:avLst>
          </a:prstGeom>
          <a:solidFill>
            <a:srgbClr val="0A2342">
              <a:alpha val="13333"/>
            </a:srgbClr>
          </a:solidFill>
          <a:ln w="9525" cap="flat" cmpd="sng">
            <a:solidFill>
              <a:srgbClr val="0A23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7090"/>
              </a:lnSpc>
              <a:buClr>
                <a:srgbClr val="0A2342"/>
              </a:buClr>
              <a:buSzPts val="1100"/>
            </a:pPr>
            <a:r>
              <a:rPr lang="en-US" sz="14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528945" y="3734547"/>
            <a:ext cx="3322263" cy="26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1200"/>
              </a:lnSpc>
              <a:buClr>
                <a:srgbClr val="0A2342"/>
              </a:buClr>
              <a:buSzPts val="1000"/>
            </a:pPr>
            <a:r>
              <a:rPr lang="en-US" sz="1200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Couche Données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528945" y="4001844"/>
            <a:ext cx="3322263" cy="23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A2342"/>
              </a:buClr>
              <a:buSzPts val="800"/>
            </a:pPr>
            <a:r>
              <a:rPr lang="en-US" sz="933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Base de données (stockage des informations)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750045" y="4419424"/>
            <a:ext cx="3471156" cy="991573"/>
          </a:xfrm>
          <a:prstGeom prst="roundRect">
            <a:avLst>
              <a:gd name="adj" fmla="val 15673"/>
            </a:avLst>
          </a:prstGeom>
          <a:solidFill>
            <a:srgbClr val="0A2342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/>
          </a:p>
        </p:txBody>
      </p:sp>
      <p:sp>
        <p:nvSpPr>
          <p:cNvPr id="291" name="Google Shape;291;p10"/>
          <p:cNvSpPr/>
          <p:nvPr/>
        </p:nvSpPr>
        <p:spPr>
          <a:xfrm>
            <a:off x="1931690" y="4680751"/>
            <a:ext cx="263423" cy="443212"/>
          </a:xfrm>
          <a:prstGeom prst="roundRect">
            <a:avLst>
              <a:gd name="adj" fmla="val 12831"/>
            </a:avLst>
          </a:prstGeom>
          <a:solidFill>
            <a:srgbClr val="F4A823">
              <a:alpha val="13333"/>
            </a:srgbClr>
          </a:solidFill>
          <a:ln w="9525" cap="flat" cmpd="sng">
            <a:solidFill>
              <a:srgbClr val="F4A8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57090"/>
              </a:lnSpc>
              <a:buClr>
                <a:srgbClr val="F4A823"/>
              </a:buClr>
              <a:buSzPts val="1100"/>
            </a:pPr>
            <a:r>
              <a:rPr lang="en-US" sz="1400" b="1" dirty="0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2376758" y="4537479"/>
            <a:ext cx="2473021" cy="26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1200"/>
              </a:lnSpc>
              <a:buClr>
                <a:srgbClr val="F4A823"/>
              </a:buClr>
              <a:buSzPts val="1000"/>
            </a:pPr>
            <a:r>
              <a:rPr lang="en-US" sz="1200" b="1" dirty="0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Couche IoT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2503470" y="4840693"/>
            <a:ext cx="2501020" cy="456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4A823"/>
              </a:buClr>
              <a:buSzPts val="800"/>
            </a:pPr>
            <a:r>
              <a:rPr lang="en-US" sz="933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Gestion des communications </a:t>
            </a:r>
            <a:r>
              <a:rPr lang="en-US" sz="933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LoRaWAN</a:t>
            </a:r>
            <a:r>
              <a:rPr lang="en-US" sz="933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lang="en-US" sz="933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Intégration</a:t>
            </a:r>
            <a:r>
              <a:rPr lang="en-US" sz="933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avec la </a:t>
            </a:r>
            <a:r>
              <a:rPr lang="en-US" sz="933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plateforme</a:t>
            </a:r>
            <a:r>
              <a:rPr lang="en-US" sz="933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IoT</a:t>
            </a:r>
            <a:endParaRPr sz="9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65126" y="6224589"/>
            <a:ext cx="11461751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C896"/>
              </a:buClr>
              <a:buSzPts val="900"/>
            </a:pPr>
            <a:r>
              <a:rPr lang="en-US" sz="1200">
                <a:solidFill>
                  <a:srgbClr val="00C896"/>
                </a:solidFill>
                <a:highlight>
                  <a:srgbClr val="0A2342"/>
                </a:highlight>
                <a:latin typeface="DM Sans"/>
                <a:ea typeface="DM Sans"/>
                <a:cs typeface="DM Sans"/>
                <a:sym typeface="DM Sans"/>
              </a:rPr>
              <a:t>Frontend ⟷ Backend (API) ⟷ Logique Métier ⟷ Base de Données ⟷ IoT Platform (LoRaWAN)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A16A56D8-230B-EE93-C3B6-8D97C59756FB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794BBB-63C8-C645-1EF2-5D34EB6642B4}"/>
              </a:ext>
            </a:extLst>
          </p:cNvPr>
          <p:cNvPicPr/>
          <p:nvPr/>
        </p:nvPicPr>
        <p:blipFill rotWithShape="1">
          <a:blip r:embed="rId5"/>
          <a:srcRect t="2240" r="24158" b="8401"/>
          <a:stretch/>
        </p:blipFill>
        <p:spPr bwMode="auto">
          <a:xfrm>
            <a:off x="7051289" y="1169095"/>
            <a:ext cx="4877288" cy="4713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1;p5" descr="preencoded.png">
            <a:extLst>
              <a:ext uri="{FF2B5EF4-FFF2-40B4-BE49-F238E27FC236}">
                <a16:creationId xmlns:a16="http://schemas.microsoft.com/office/drawing/2014/main" id="{67C96366-7D1B-62BC-D50B-6C90C3AEF0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-57355"/>
            <a:ext cx="6705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2692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976561" y="2336057"/>
            <a:ext cx="850900" cy="850900"/>
          </a:xfrm>
          <a:prstGeom prst="roundRect">
            <a:avLst>
              <a:gd name="adj" fmla="val 17108"/>
            </a:avLst>
          </a:prstGeom>
          <a:solidFill>
            <a:srgbClr val="16A34A">
              <a:alpha val="14901"/>
            </a:srgbClr>
          </a:solidFill>
          <a:ln w="9525" cap="flat" cmpd="sng">
            <a:solidFill>
              <a:srgbClr val="16A34A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00800"/>
              </a:lnSpc>
              <a:buClr>
                <a:srgbClr val="16A34A"/>
              </a:buClr>
              <a:buSzPts val="2500"/>
            </a:pPr>
            <a:r>
              <a:rPr lang="en-US" sz="3333" b="1">
                <a:solidFill>
                  <a:srgbClr val="16A34A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IV</a:t>
            </a:r>
            <a:endParaRPr sz="33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974726" y="3393876"/>
            <a:ext cx="1024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3600"/>
            </a:pPr>
            <a:r>
              <a:rPr lang="en-US" sz="4800" b="1" dirty="0" err="1">
                <a:solidFill>
                  <a:srgbClr val="FFFFFF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Réalisation</a:t>
            </a:r>
            <a:r>
              <a:rPr lang="en-US" sz="4800" b="1" dirty="0">
                <a:solidFill>
                  <a:srgbClr val="FFFFFF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et</a:t>
            </a:r>
            <a:endParaRPr sz="4800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974726" y="4106267"/>
            <a:ext cx="10242549" cy="74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16A34A"/>
              </a:buClr>
              <a:buSzPts val="3600"/>
            </a:pPr>
            <a:r>
              <a:rPr lang="fr-MA" sz="4800" b="1" dirty="0">
                <a:solidFill>
                  <a:schemeClr val="accent6"/>
                </a:solidFill>
                <a:latin typeface="Cadman" panose="020B0803020202020004" pitchFamily="34" charset="0"/>
                <a:ea typeface="Calibri"/>
                <a:cs typeface="Calibri"/>
                <a:sym typeface="Calibri"/>
              </a:rPr>
              <a:t>Prototypage</a:t>
            </a:r>
            <a:endParaRPr sz="4800" b="1" dirty="0">
              <a:solidFill>
                <a:schemeClr val="accent6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974726" y="4818161"/>
            <a:ext cx="10242549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94A3B8"/>
              </a:buClr>
              <a:buSzPts val="1200"/>
            </a:pPr>
            <a:r>
              <a:rPr lang="en-US" sz="1600">
                <a:solidFill>
                  <a:srgbClr val="94A3B8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Wokwi · ThingSpeak · Application React.js</a:t>
            </a:r>
            <a:endParaRPr sz="16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3A43D18E-064A-3970-7AD1-0A0C36BD8E2B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845621" y="864285"/>
            <a:ext cx="304800" cy="19051"/>
          </a:xfrm>
          <a:prstGeom prst="roundRect">
            <a:avLst>
              <a:gd name="adj" fmla="val 799972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246466" y="772211"/>
            <a:ext cx="147954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16A34A"/>
              </a:buClr>
              <a:buSzPts val="700"/>
            </a:pPr>
            <a:r>
              <a:rPr lang="en-US" sz="933" b="1">
                <a:solidFill>
                  <a:srgbClr val="16A34A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IV. RÉALISATION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844431" y="1029832"/>
            <a:ext cx="6686551" cy="425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0800"/>
              </a:lnSpc>
              <a:buClr>
                <a:srgbClr val="0A2342"/>
              </a:buClr>
              <a:buSzPts val="2500"/>
            </a:pPr>
            <a:r>
              <a:rPr lang="en-US" sz="3333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Outils</a:t>
            </a:r>
            <a:r>
              <a:rPr lang="en-US" sz="3333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3333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utilisés</a:t>
            </a:r>
            <a:r>
              <a:rPr lang="en-US" sz="3333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endParaRPr sz="3333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852189" y="2299315"/>
            <a:ext cx="5988051" cy="927100"/>
          </a:xfrm>
          <a:prstGeom prst="roundRect">
            <a:avLst>
              <a:gd name="adj" fmla="val 14412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1042837" y="2443431"/>
            <a:ext cx="425451" cy="425451"/>
          </a:xfrm>
          <a:prstGeom prst="roundRect">
            <a:avLst>
              <a:gd name="adj" fmla="val 12831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413" name="Google Shape;41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827" y="2546421"/>
            <a:ext cx="219372" cy="21937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5"/>
          <p:cNvSpPr/>
          <p:nvPr/>
        </p:nvSpPr>
        <p:spPr>
          <a:xfrm>
            <a:off x="1614884" y="2444175"/>
            <a:ext cx="5035549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15803D"/>
              </a:buClr>
              <a:buSzPts val="900"/>
            </a:pPr>
            <a:r>
              <a:rPr lang="en-US" sz="1200" b="1" dirty="0" err="1">
                <a:solidFill>
                  <a:srgbClr val="15803D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Wokwi</a:t>
            </a:r>
            <a:r>
              <a:rPr lang="en-US" sz="1200" b="1" dirty="0">
                <a:solidFill>
                  <a:srgbClr val="15803D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— Simulation </a:t>
            </a:r>
            <a:r>
              <a:rPr lang="en-US" sz="1200" b="1" dirty="0" err="1">
                <a:solidFill>
                  <a:srgbClr val="15803D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embarquée</a:t>
            </a:r>
            <a:endParaRPr sz="1200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614884" y="2681655"/>
            <a:ext cx="5035549" cy="54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64748B"/>
              </a:buClr>
              <a:buSzPts val="700"/>
            </a:pP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ESP32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simulé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avec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capteur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ultrasonique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HC-SR04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remplacement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de l'EM310-UDL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réel</a:t>
            </a:r>
            <a:endParaRPr sz="933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852189" y="3329107"/>
            <a:ext cx="5988051" cy="927100"/>
          </a:xfrm>
          <a:prstGeom prst="roundRect">
            <a:avLst>
              <a:gd name="adj" fmla="val 14412"/>
            </a:avLst>
          </a:prstGeom>
          <a:solidFill>
            <a:srgbClr val="F0F9FF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042837" y="3473221"/>
            <a:ext cx="425451" cy="425451"/>
          </a:xfrm>
          <a:prstGeom prst="roundRect">
            <a:avLst>
              <a:gd name="adj" fmla="val 12831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418" name="Google Shape;418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5827" y="3576211"/>
            <a:ext cx="219372" cy="21937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5"/>
          <p:cNvSpPr/>
          <p:nvPr/>
        </p:nvSpPr>
        <p:spPr>
          <a:xfrm>
            <a:off x="1614884" y="3473967"/>
            <a:ext cx="5035549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0369A1"/>
              </a:buClr>
              <a:buSzPts val="900"/>
            </a:pPr>
            <a:r>
              <a:rPr lang="en-US" sz="1200" b="1">
                <a:solidFill>
                  <a:srgbClr val="0369A1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ThingSpeak — Cloud IoT</a:t>
            </a:r>
            <a:endParaRPr sz="12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1614884" y="3711447"/>
            <a:ext cx="5035549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Plateforme IoT pour stockage et visualisation des données · Envoi automatique chaque seconde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852189" y="4359891"/>
            <a:ext cx="5988051" cy="723900"/>
          </a:xfrm>
          <a:prstGeom prst="roundRect">
            <a:avLst>
              <a:gd name="adj" fmla="val 23638"/>
            </a:avLst>
          </a:prstGeom>
          <a:solidFill>
            <a:srgbClr val="FAF5FF"/>
          </a:solidFill>
          <a:ln w="9525" cap="flat" cmpd="sng">
            <a:solidFill>
              <a:srgbClr val="E9D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1042837" y="4503013"/>
            <a:ext cx="425451" cy="425451"/>
          </a:xfrm>
          <a:prstGeom prst="roundRect">
            <a:avLst>
              <a:gd name="adj" fmla="val 12831"/>
            </a:avLst>
          </a:prstGeom>
          <a:solidFill>
            <a:srgbClr val="F3E8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423" name="Google Shape;42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827" y="4606003"/>
            <a:ext cx="219372" cy="21937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/>
          <p:nvPr/>
        </p:nvSpPr>
        <p:spPr>
          <a:xfrm>
            <a:off x="1613892" y="4503758"/>
            <a:ext cx="4546600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7E22CE"/>
              </a:buClr>
              <a:buSzPts val="900"/>
            </a:pPr>
            <a:r>
              <a:rPr lang="en-US" sz="1200" b="1">
                <a:solidFill>
                  <a:srgbClr val="7E22CE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React.js — Application web</a:t>
            </a:r>
            <a:endParaRPr sz="12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1613892" y="4739055"/>
            <a:ext cx="45466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Développement d'une interface utilisateur · Axios pour API · HTML / CSS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3E5BF0-A508-6423-44C0-B187442C1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348" y="837956"/>
            <a:ext cx="1647365" cy="16256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06F5B5E-C267-AB0D-4E6C-6D8E9AE2B0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7235" y="2132827"/>
            <a:ext cx="1998037" cy="15119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13C3C8E-74B4-CB6F-8466-B92019C45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8740" y="3760565"/>
            <a:ext cx="1825885" cy="1625689"/>
          </a:xfrm>
          <a:prstGeom prst="rect">
            <a:avLst/>
          </a:prstGeom>
        </p:spPr>
      </p:pic>
      <p:sp>
        <p:nvSpPr>
          <p:cNvPr id="8" name="Text 11">
            <a:extLst>
              <a:ext uri="{FF2B5EF4-FFF2-40B4-BE49-F238E27FC236}">
                <a16:creationId xmlns:a16="http://schemas.microsoft.com/office/drawing/2014/main" id="{EE40C715-8DF5-54F9-3D4F-FA08C7E33315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FA2ECD2-A228-1E13-B367-AEACB90FAFAE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Réalisation – Simulation du capteur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7A1EA9B8-2352-3912-B51B-04EE71566A98}"/>
              </a:ext>
            </a:extLst>
          </p:cNvPr>
          <p:cNvSpPr txBox="1">
            <a:spLocks/>
          </p:cNvSpPr>
          <p:nvPr/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/>
            <a:r>
              <a:rPr lang="en-US" sz="1500" b="1"/>
              <a:t>Remplacement du capteur réel (EM310-UDL) par HC-SR04 </a:t>
            </a:r>
          </a:p>
          <a:p>
            <a:pPr marL="257175"/>
            <a:r>
              <a:rPr lang="en-US" sz="1500" b="1"/>
              <a:t>Simulation sur Wokwi </a:t>
            </a:r>
          </a:p>
          <a:p>
            <a:pPr marL="257175"/>
            <a:r>
              <a:rPr lang="en-US" sz="1500" b="1"/>
              <a:t>Mesure de la distance (couvercle → déchets) </a:t>
            </a:r>
          </a:p>
          <a:p>
            <a:pPr marL="257175"/>
            <a:r>
              <a:rPr lang="en-US" sz="1500" b="1"/>
              <a:t>Conversion distance → niveau de remplissage (%) </a:t>
            </a:r>
          </a:p>
          <a:p>
            <a:endParaRPr lang="en-US" sz="1500" b="1"/>
          </a:p>
          <a:p>
            <a:r>
              <a:rPr lang="en-US" sz="1500" b="1"/>
              <a:t>Exemple :</a:t>
            </a:r>
          </a:p>
          <a:p>
            <a:pPr lvl="1"/>
            <a:r>
              <a:rPr lang="en-US" sz="1500" b="1"/>
              <a:t>0 cm → 100% (plein) </a:t>
            </a:r>
          </a:p>
          <a:p>
            <a:pPr lvl="1"/>
            <a:r>
              <a:rPr lang="en-US" sz="1500" b="1"/>
              <a:t>Distance max → 0% (vide) </a:t>
            </a:r>
          </a:p>
          <a:p>
            <a:endParaRPr lang="en-US" sz="1500" b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EE9DEAA-307C-C2B0-324B-62084B0E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67456"/>
            <a:ext cx="6903720" cy="3523088"/>
          </a:xfrm>
          <a:prstGeom prst="rect">
            <a:avLst/>
          </a:prstGeom>
        </p:spPr>
      </p:pic>
      <p:sp>
        <p:nvSpPr>
          <p:cNvPr id="9" name="Text 11">
            <a:extLst>
              <a:ext uri="{FF2B5EF4-FFF2-40B4-BE49-F238E27FC236}">
                <a16:creationId xmlns:a16="http://schemas.microsoft.com/office/drawing/2014/main" id="{1BCF1A6F-958D-9FC8-660F-2ACD3FB075D7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  <p:extLst>
      <p:ext uri="{BB962C8B-B14F-4D97-AF65-F5344CB8AC3E}">
        <p14:creationId xmlns:p14="http://schemas.microsoft.com/office/powerpoint/2010/main" val="132237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9234BFB-7D61-E860-670D-35784D0A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8672"/>
            <a:ext cx="4259731" cy="127997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Intégration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IoT –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ThingSpeak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D83EDD9-A16E-735B-DB93-CD87E02A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9" y="2193403"/>
            <a:ext cx="6291618" cy="3536066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au texte 2">
            <a:extLst>
              <a:ext uri="{FF2B5EF4-FFF2-40B4-BE49-F238E27FC236}">
                <a16:creationId xmlns:a16="http://schemas.microsoft.com/office/drawing/2014/main" id="{80752F22-74B6-562C-F8BC-4ECCC8B6C6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6415" y="723153"/>
            <a:ext cx="4555782" cy="53924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/>
            <a:r>
              <a:rPr lang="en-US" sz="2000" b="1">
                <a:solidFill>
                  <a:schemeClr val="tx1"/>
                </a:solidFill>
              </a:rPr>
              <a:t>ESP32 simulé connecté en WiFi </a:t>
            </a:r>
          </a:p>
          <a:p>
            <a:pPr marL="0" indent="-228600"/>
            <a:r>
              <a:rPr lang="en-US" sz="2000" b="1">
                <a:solidFill>
                  <a:schemeClr val="tx1"/>
                </a:solidFill>
              </a:rPr>
              <a:t>Envoi des données chaque seconde </a:t>
            </a:r>
          </a:p>
          <a:p>
            <a:pPr marL="0" indent="-228600"/>
            <a:r>
              <a:rPr lang="en-US" sz="2000" b="1">
                <a:solidFill>
                  <a:schemeClr val="tx1"/>
                </a:solidFill>
              </a:rPr>
              <a:t>Stockage cloud </a:t>
            </a:r>
          </a:p>
          <a:p>
            <a:pPr marL="0" indent="-228600"/>
            <a:endParaRPr lang="en-US" sz="2000" b="1">
              <a:solidFill>
                <a:schemeClr val="tx1"/>
              </a:solidFill>
            </a:endParaRPr>
          </a:p>
          <a:p>
            <a:pPr marL="0" indent="-228600"/>
            <a:r>
              <a:rPr lang="en-US" sz="2000" b="1">
                <a:solidFill>
                  <a:schemeClr val="tx1"/>
                </a:solidFill>
              </a:rPr>
              <a:t>Données envoyées :</a:t>
            </a:r>
          </a:p>
          <a:p>
            <a:pPr indent="-228600"/>
            <a:r>
              <a:rPr lang="en-US" sz="2000" b="1">
                <a:solidFill>
                  <a:schemeClr val="tx1"/>
                </a:solidFill>
              </a:rPr>
              <a:t>Niveau de remplissage (%) </a:t>
            </a:r>
          </a:p>
          <a:p>
            <a:pPr indent="-228600"/>
            <a:r>
              <a:rPr lang="en-US" sz="2000" b="1">
                <a:solidFill>
                  <a:schemeClr val="tx1"/>
                </a:solidFill>
              </a:rPr>
              <a:t>Distance (cm) </a:t>
            </a:r>
          </a:p>
          <a:p>
            <a:pPr marL="0" indent="-228600"/>
            <a:endParaRPr lang="en-US" sz="2000" b="1">
              <a:solidFill>
                <a:schemeClr val="tx1"/>
              </a:solidFill>
            </a:endParaRPr>
          </a:p>
          <a:p>
            <a:pPr marL="0" indent="-228600"/>
            <a:r>
              <a:rPr lang="en-US" sz="2000" b="1">
                <a:solidFill>
                  <a:schemeClr val="tx1"/>
                </a:solidFill>
              </a:rPr>
              <a:t>Résultat :</a:t>
            </a:r>
          </a:p>
          <a:p>
            <a:pPr indent="-228600"/>
            <a:r>
              <a:rPr lang="en-US" sz="2000" b="1">
                <a:solidFill>
                  <a:schemeClr val="tx1"/>
                </a:solidFill>
              </a:rPr>
              <a:t>Visualisation en temps réel (graphes) </a:t>
            </a:r>
          </a:p>
          <a:p>
            <a:pPr indent="-228600"/>
            <a:r>
              <a:rPr lang="en-US" sz="2000" b="1">
                <a:solidFill>
                  <a:schemeClr val="tx1"/>
                </a:solidFill>
              </a:rPr>
              <a:t>Historique des données</a:t>
            </a: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E316290E-DE73-C498-F726-344A4C69DB0A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  <a:spcAft>
                <a:spcPts val="600"/>
              </a:spcAft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  <p:extLst>
      <p:ext uri="{BB962C8B-B14F-4D97-AF65-F5344CB8AC3E}">
        <p14:creationId xmlns:p14="http://schemas.microsoft.com/office/powerpoint/2010/main" val="3574600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36" name="Google Shape;436;p16"/>
          <p:cNvSpPr/>
          <p:nvPr/>
        </p:nvSpPr>
        <p:spPr>
          <a:xfrm>
            <a:off x="853380" y="433983"/>
            <a:ext cx="304800" cy="19051"/>
          </a:xfrm>
          <a:prstGeom prst="roundRect">
            <a:avLst>
              <a:gd name="adj" fmla="val 799972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1254224" y="341908"/>
            <a:ext cx="147954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16A34A"/>
              </a:buClr>
              <a:buSzPts val="700"/>
            </a:pPr>
            <a:r>
              <a:rPr lang="en-US" sz="933" b="1">
                <a:solidFill>
                  <a:srgbClr val="16A34A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IV. RÉALISATION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854124" y="599529"/>
            <a:ext cx="5867400" cy="425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0800"/>
              </a:lnSpc>
              <a:buClr>
                <a:srgbClr val="0A2342"/>
              </a:buClr>
              <a:buSzPts val="2500"/>
            </a:pPr>
            <a:r>
              <a:rPr lang="en-US" sz="3333" b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Application React &amp; Résultats</a:t>
            </a:r>
            <a:endParaRPr sz="33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77281" y="2183135"/>
            <a:ext cx="514984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64748B"/>
              </a:buClr>
              <a:buSzPts val="700"/>
            </a:pPr>
            <a:r>
              <a:rPr lang="en-US" sz="933" b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INTERFACES DÉVELOPPÉES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77281" y="2488679"/>
            <a:ext cx="5149849" cy="628651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766342" y="2618805"/>
            <a:ext cx="368300" cy="368300"/>
          </a:xfrm>
          <a:prstGeom prst="roundRect">
            <a:avLst>
              <a:gd name="adj" fmla="val 11415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443" name="Google Shape;44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011" y="2711474"/>
            <a:ext cx="182860" cy="18286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1279253" y="2595884"/>
            <a:ext cx="26797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15803D"/>
              </a:buClr>
              <a:buSzPts val="800"/>
            </a:pPr>
            <a:r>
              <a:rPr lang="en-US" sz="1067" b="1">
                <a:solidFill>
                  <a:srgbClr val="15803D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Page Login</a:t>
            </a:r>
            <a:endParaRPr sz="10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1279253" y="2817489"/>
            <a:ext cx="3186871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Authentification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sécurisée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des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gestionnaires</a:t>
            </a:r>
            <a:endParaRPr sz="933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577281" y="3221211"/>
            <a:ext cx="5149849" cy="628651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66342" y="3351337"/>
            <a:ext cx="368300" cy="368300"/>
          </a:xfrm>
          <a:prstGeom prst="roundRect">
            <a:avLst>
              <a:gd name="adj" fmla="val 11415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pic>
        <p:nvPicPr>
          <p:cNvPr id="448" name="Google Shape;448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9011" y="3444006"/>
            <a:ext cx="182860" cy="18286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1278906" y="3328416"/>
            <a:ext cx="29781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15803D"/>
              </a:buClr>
              <a:buSzPts val="800"/>
            </a:pPr>
            <a:r>
              <a:rPr lang="en-US" sz="1067" b="1">
                <a:solidFill>
                  <a:srgbClr val="15803D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Dashboard</a:t>
            </a:r>
            <a:endParaRPr sz="10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278905" y="3550021"/>
            <a:ext cx="4000017" cy="28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Niveaux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temps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réel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· </a:t>
            </a:r>
            <a:r>
              <a:rPr lang="en-US" sz="933" dirty="0" err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graphiques</a:t>
            </a:r>
            <a:r>
              <a:rPr lang="en-US" sz="933" dirty="0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· carte interactive</a:t>
            </a:r>
            <a:endParaRPr sz="933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77281" y="3953197"/>
            <a:ext cx="5149849" cy="635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77281" y="4061345"/>
            <a:ext cx="514984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64748B"/>
              </a:buClr>
              <a:buSzPts val="700"/>
            </a:pPr>
            <a:r>
              <a:rPr lang="en-US" sz="933" b="1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RÉSULTATS OBTENUS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77281" y="4366345"/>
            <a:ext cx="5149849" cy="11303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767781" y="4475187"/>
            <a:ext cx="47688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92285"/>
              </a:lnSpc>
              <a:buClr>
                <a:srgbClr val="0A2342"/>
              </a:buClr>
              <a:buSzPts val="700"/>
            </a:pPr>
            <a:r>
              <a:rPr lang="en-US" sz="933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✓ Simulation complète et fonctionnelle du système IoT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67781" y="4703191"/>
            <a:ext cx="47688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92285"/>
              </a:lnSpc>
              <a:buClr>
                <a:srgbClr val="0A2342"/>
              </a:buClr>
              <a:buSzPts val="700"/>
            </a:pPr>
            <a:r>
              <a:rPr lang="en-US" sz="933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✓ Transmission et stockage des données dans ThingSpeak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67781" y="4931196"/>
            <a:ext cx="47688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92285"/>
              </a:lnSpc>
              <a:buClr>
                <a:srgbClr val="0A2342"/>
              </a:buClr>
              <a:buSzPts val="700"/>
            </a:pPr>
            <a:r>
              <a:rPr lang="en-US" sz="933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✓ Visualisation en temps réel via l'interface web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767781" y="5159200"/>
            <a:ext cx="47688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92285"/>
              </a:lnSpc>
              <a:buClr>
                <a:srgbClr val="0A2342"/>
              </a:buClr>
              <a:buSzPts val="700"/>
            </a:pPr>
            <a:r>
              <a:rPr lang="en-US" sz="933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✓ Validation de l'architecture globale du système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BA8AC51-BEB9-F1B2-511A-B5979B69A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53" y="425523"/>
            <a:ext cx="5435691" cy="244337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D35D56D-8A62-04BD-2C63-277E3CB40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55" y="3117330"/>
            <a:ext cx="5709907" cy="3081340"/>
          </a:xfrm>
          <a:prstGeom prst="rect">
            <a:avLst/>
          </a:prstGeom>
        </p:spPr>
      </p:pic>
      <p:sp>
        <p:nvSpPr>
          <p:cNvPr id="6" name="Text 11">
            <a:extLst>
              <a:ext uri="{FF2B5EF4-FFF2-40B4-BE49-F238E27FC236}">
                <a16:creationId xmlns:a16="http://schemas.microsoft.com/office/drawing/2014/main" id="{5DBA37C3-7D7C-F611-8BDE-803021102C98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68" name="Google Shape;468;p17"/>
          <p:cNvSpPr/>
          <p:nvPr/>
        </p:nvSpPr>
        <p:spPr>
          <a:xfrm>
            <a:off x="975320" y="1709391"/>
            <a:ext cx="19051" cy="488949"/>
          </a:xfrm>
          <a:prstGeom prst="roundRect">
            <a:avLst>
              <a:gd name="adj" fmla="val 799972"/>
            </a:avLst>
          </a:prstGeom>
          <a:solidFill>
            <a:srgbClr val="05966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1115864" y="1852216"/>
            <a:ext cx="2914651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59669"/>
              </a:buClr>
              <a:buSzPts val="700"/>
            </a:pPr>
            <a:r>
              <a:rPr lang="en-US" sz="933" b="1">
                <a:solidFill>
                  <a:srgbClr val="05966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HESTIM · PACTE LIVRABLE 2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976561" y="2336057"/>
            <a:ext cx="850900" cy="850900"/>
          </a:xfrm>
          <a:prstGeom prst="roundRect">
            <a:avLst>
              <a:gd name="adj" fmla="val 17108"/>
            </a:avLst>
          </a:prstGeom>
          <a:solidFill>
            <a:srgbClr val="059669">
              <a:alpha val="14901"/>
            </a:srgbClr>
          </a:solidFill>
          <a:ln w="9525" cap="flat" cmpd="sng">
            <a:solidFill>
              <a:srgbClr val="059669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00800"/>
              </a:lnSpc>
              <a:buClr>
                <a:srgbClr val="34D399"/>
              </a:buClr>
              <a:buSzPts val="2500"/>
            </a:pPr>
            <a:r>
              <a:rPr lang="en-US" sz="3333" b="1">
                <a:solidFill>
                  <a:srgbClr val="34D39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V</a:t>
            </a:r>
            <a:endParaRPr sz="33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974726" y="3393876"/>
            <a:ext cx="1024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3600"/>
            </a:pPr>
            <a:r>
              <a:rPr lang="en-US" sz="4800" b="1">
                <a:solidFill>
                  <a:srgbClr val="FFFFFF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Avantages &amp;</a:t>
            </a:r>
            <a:endParaRPr sz="48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974726" y="4106267"/>
            <a:ext cx="1024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34D399"/>
              </a:buClr>
              <a:buSzPts val="3600"/>
            </a:pPr>
            <a:r>
              <a:rPr lang="en-US" sz="4800" b="1">
                <a:solidFill>
                  <a:srgbClr val="34D39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Impact</a:t>
            </a:r>
            <a:endParaRPr sz="48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974726" y="4818161"/>
            <a:ext cx="10242549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94A3B8"/>
              </a:buClr>
              <a:buSzPts val="1200"/>
            </a:pPr>
            <a:r>
              <a:rPr lang="en-US" sz="1600">
                <a:solidFill>
                  <a:srgbClr val="94A3B8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Économique · Environnemental · Urbain</a:t>
            </a:r>
            <a:endParaRPr sz="16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304;p11" descr="preencoded.png">
            <a:extLst>
              <a:ext uri="{FF2B5EF4-FFF2-40B4-BE49-F238E27FC236}">
                <a16:creationId xmlns:a16="http://schemas.microsoft.com/office/drawing/2014/main" id="{7A6C9D7C-931E-0620-F470-4957F70A1C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32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05;p11" descr="preencoded.png">
            <a:extLst>
              <a:ext uri="{FF2B5EF4-FFF2-40B4-BE49-F238E27FC236}">
                <a16:creationId xmlns:a16="http://schemas.microsoft.com/office/drawing/2014/main" id="{578D93FD-9C34-B30C-DE44-F6D7D2F4F9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4440" y="21600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795FFA16-C077-76FF-FFA1-666546C8AEC1}"/>
              </a:ext>
            </a:extLst>
          </p:cNvPr>
          <p:cNvSpPr/>
          <p:nvPr/>
        </p:nvSpPr>
        <p:spPr>
          <a:xfrm>
            <a:off x="11490226" y="6515945"/>
            <a:ext cx="336549" cy="1905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85720" y="669309"/>
            <a:ext cx="304800" cy="19051"/>
          </a:xfrm>
          <a:prstGeom prst="roundRect">
            <a:avLst>
              <a:gd name="adj" fmla="val 799972"/>
            </a:avLst>
          </a:prstGeom>
          <a:solidFill>
            <a:srgbClr val="05966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1086913" y="583635"/>
            <a:ext cx="2324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59669"/>
              </a:buClr>
              <a:buSzPts val="700"/>
            </a:pPr>
            <a:r>
              <a:rPr lang="en-US" sz="933" b="1">
                <a:solidFill>
                  <a:srgbClr val="05966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V. AVANTAGES DU SYSTÈME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684530" y="831037"/>
            <a:ext cx="6820991" cy="38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0173"/>
              </a:lnSpc>
              <a:buClr>
                <a:srgbClr val="0A2342"/>
              </a:buClr>
              <a:buSzPts val="2300"/>
            </a:pPr>
            <a:r>
              <a:rPr lang="en-US" sz="3067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Avantages</a:t>
            </a:r>
            <a:r>
              <a:rPr lang="en-US" sz="3067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du Système</a:t>
            </a:r>
            <a:endParaRPr sz="3067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39D8A2E7-1B29-F7F8-6EF9-6560DBB213D1}"/>
              </a:ext>
            </a:extLst>
          </p:cNvPr>
          <p:cNvGraphicFramePr/>
          <p:nvPr/>
        </p:nvGraphicFramePr>
        <p:xfrm>
          <a:off x="330200" y="1575484"/>
          <a:ext cx="11394440" cy="4651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11">
            <a:extLst>
              <a:ext uri="{FF2B5EF4-FFF2-40B4-BE49-F238E27FC236}">
                <a16:creationId xmlns:a16="http://schemas.microsoft.com/office/drawing/2014/main" id="{F59A15C9-8628-4550-530C-16A86DEB2A5E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24" name="Google Shape;524;p19"/>
          <p:cNvSpPr/>
          <p:nvPr/>
        </p:nvSpPr>
        <p:spPr>
          <a:xfrm>
            <a:off x="731440" y="394989"/>
            <a:ext cx="304800" cy="19051"/>
          </a:xfrm>
          <a:prstGeom prst="roundRect">
            <a:avLst>
              <a:gd name="adj" fmla="val 799972"/>
            </a:avLst>
          </a:prstGeom>
          <a:solidFill>
            <a:srgbClr val="05966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1134715" y="309315"/>
            <a:ext cx="863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59669"/>
              </a:buClr>
              <a:buSzPts val="700"/>
            </a:pPr>
            <a:r>
              <a:rPr lang="en-US" sz="933" b="1">
                <a:solidFill>
                  <a:srgbClr val="05966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V. IMPACT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730102" y="556717"/>
            <a:ext cx="7223927" cy="38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0173"/>
              </a:lnSpc>
              <a:buClr>
                <a:srgbClr val="0A2342"/>
              </a:buClr>
              <a:buSzPts val="2300"/>
            </a:pPr>
            <a:r>
              <a:rPr lang="en-US" sz="3067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Impact </a:t>
            </a:r>
            <a:r>
              <a:rPr lang="en-US" sz="3067" b="1" dirty="0" err="1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Environnemental</a:t>
            </a:r>
            <a:r>
              <a:rPr lang="en-US" sz="3067" b="1" dirty="0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&amp; Urbain</a:t>
            </a:r>
            <a:endParaRPr sz="3067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732582" y="1117849"/>
            <a:ext cx="5632449" cy="895351"/>
          </a:xfrm>
          <a:prstGeom prst="roundRect">
            <a:avLst>
              <a:gd name="adj" fmla="val 13520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956915" y="1246437"/>
            <a:ext cx="3048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3714"/>
              </a:lnSpc>
              <a:buClr>
                <a:srgbClr val="0A2342"/>
              </a:buClr>
              <a:buSzPts val="1400"/>
            </a:pPr>
            <a:r>
              <a:rPr lang="en-US" sz="1867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🌿</a:t>
            </a:r>
            <a:endParaRPr sz="18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1408708" y="1245295"/>
            <a:ext cx="47307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59669"/>
              </a:buClr>
              <a:buSzPts val="800"/>
            </a:pPr>
            <a:r>
              <a:rPr lang="en-US" sz="1067" b="1">
                <a:solidFill>
                  <a:srgbClr val="05966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Réduction des émissions CO₂</a:t>
            </a:r>
            <a:endParaRPr sz="10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408708" y="1501875"/>
            <a:ext cx="47307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Moins de trajets inutiles des camions de collecte, réduction directe des émissions de gaz à effet de serre en ville.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732582" y="2138511"/>
            <a:ext cx="5632449" cy="895351"/>
          </a:xfrm>
          <a:prstGeom prst="roundRect">
            <a:avLst>
              <a:gd name="adj" fmla="val 13520"/>
            </a:avLst>
          </a:prstGeom>
          <a:solidFill>
            <a:srgbClr val="FFFFFF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956915" y="2267099"/>
            <a:ext cx="3048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3714"/>
              </a:lnSpc>
              <a:buClr>
                <a:srgbClr val="0A2342"/>
              </a:buClr>
              <a:buSzPts val="1400"/>
            </a:pPr>
            <a:r>
              <a:rPr lang="en-US" sz="1867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🧹</a:t>
            </a:r>
            <a:endParaRPr sz="18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1408708" y="2265957"/>
            <a:ext cx="47307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EA5E9"/>
              </a:buClr>
              <a:buSzPts val="800"/>
            </a:pPr>
            <a:r>
              <a:rPr lang="en-US" sz="1067" b="1" dirty="0" err="1">
                <a:solidFill>
                  <a:srgbClr val="0EA5E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Propreté</a:t>
            </a:r>
            <a:r>
              <a:rPr lang="en-US" sz="1067" b="1" dirty="0">
                <a:solidFill>
                  <a:srgbClr val="0EA5E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67" b="1" dirty="0" err="1">
                <a:solidFill>
                  <a:srgbClr val="0EA5E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urbaine</a:t>
            </a:r>
            <a:r>
              <a:rPr lang="en-US" sz="1067" b="1" dirty="0">
                <a:solidFill>
                  <a:srgbClr val="0EA5E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67" b="1" dirty="0" err="1">
                <a:solidFill>
                  <a:srgbClr val="0EA5E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améliorée</a:t>
            </a:r>
            <a:endParaRPr sz="1067" dirty="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1408708" y="2522537"/>
            <a:ext cx="47307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Zéro débordement de poubelles grâce aux alertes proactives — collecte avant saturation garantie.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732582" y="3159175"/>
            <a:ext cx="5632449" cy="895351"/>
          </a:xfrm>
          <a:prstGeom prst="roundRect">
            <a:avLst>
              <a:gd name="adj" fmla="val 13520"/>
            </a:avLst>
          </a:prstGeom>
          <a:solidFill>
            <a:srgbClr val="FFFFFF"/>
          </a:solidFill>
          <a:ln w="9525" cap="flat" cmpd="sng">
            <a:solidFill>
              <a:srgbClr val="E9D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956915" y="3287763"/>
            <a:ext cx="3048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3714"/>
              </a:lnSpc>
              <a:buClr>
                <a:srgbClr val="0A2342"/>
              </a:buClr>
              <a:buSzPts val="1400"/>
            </a:pPr>
            <a:r>
              <a:rPr lang="en-US" sz="1867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🏙️</a:t>
            </a:r>
            <a:endParaRPr sz="18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1408708" y="3286621"/>
            <a:ext cx="47307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9333EA"/>
              </a:buClr>
              <a:buSzPts val="800"/>
            </a:pPr>
            <a:r>
              <a:rPr lang="en-US" sz="1067" b="1">
                <a:solidFill>
                  <a:srgbClr val="9333EA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Smart City &amp; qualité de vie</a:t>
            </a:r>
            <a:endParaRPr sz="10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1408708" y="3543201"/>
            <a:ext cx="47307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Intégration dans l'écosystème ville intelligente — meilleur cadre de vie pour les citoyens et espaces publics plus propres.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732582" y="4179838"/>
            <a:ext cx="5632449" cy="895351"/>
          </a:xfrm>
          <a:prstGeom prst="roundRect">
            <a:avLst>
              <a:gd name="adj" fmla="val 13520"/>
            </a:avLst>
          </a:prstGeom>
          <a:solidFill>
            <a:srgbClr val="FFFFFF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Cadman" panose="020B0803020202020004" pitchFamily="34" charset="0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956915" y="4308426"/>
            <a:ext cx="3048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3714"/>
              </a:lnSpc>
              <a:buClr>
                <a:srgbClr val="0A2342"/>
              </a:buClr>
              <a:buSzPts val="1400"/>
            </a:pPr>
            <a:r>
              <a:rPr lang="en-US" sz="1867">
                <a:solidFill>
                  <a:srgbClr val="0A2342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📊</a:t>
            </a:r>
            <a:endParaRPr sz="18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1408708" y="4307284"/>
            <a:ext cx="4730749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4A823"/>
              </a:buClr>
              <a:buSzPts val="800"/>
            </a:pPr>
            <a:r>
              <a:rPr lang="en-US" sz="1067" b="1">
                <a:solidFill>
                  <a:srgbClr val="F4A823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Données pour la prise de décision</a:t>
            </a:r>
            <a:endParaRPr sz="1067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1408708" y="4563864"/>
            <a:ext cx="47307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64748B"/>
              </a:buClr>
              <a:buSzPts val="700"/>
            </a:pPr>
            <a:r>
              <a:rPr lang="en-US" sz="933">
                <a:solidFill>
                  <a:srgbClr val="64748B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Historique des données permettant aux collectivités d'optimiser leur politique de gestion des déchets à long terme.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1817" y="1115368"/>
            <a:ext cx="4787900" cy="54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1817" y="1115368"/>
            <a:ext cx="47879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9"/>
          <p:cNvSpPr/>
          <p:nvPr/>
        </p:nvSpPr>
        <p:spPr>
          <a:xfrm>
            <a:off x="6916291" y="5949702"/>
            <a:ext cx="4298951" cy="2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6000"/>
              </a:lnSpc>
              <a:buClr>
                <a:srgbClr val="34D399"/>
              </a:buClr>
              <a:buSzPts val="900"/>
            </a:pPr>
            <a:r>
              <a:rPr lang="en-US" sz="1200" b="1">
                <a:solidFill>
                  <a:srgbClr val="34D399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Vers une ville plus verte</a:t>
            </a:r>
            <a:endParaRPr sz="1200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916291" y="6186737"/>
            <a:ext cx="429895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CBD5E1"/>
              </a:buClr>
              <a:buSzPts val="700"/>
            </a:pPr>
            <a:r>
              <a:rPr lang="en-US" sz="933">
                <a:solidFill>
                  <a:srgbClr val="CBD5E1"/>
                </a:solidFill>
                <a:latin typeface="Cadman" panose="020B0803020202020004" pitchFamily="34" charset="0"/>
                <a:ea typeface="Plus Jakarta Sans"/>
                <a:cs typeface="Plus Jakarta Sans"/>
                <a:sym typeface="Plus Jakarta Sans"/>
              </a:rPr>
              <a:t>LoRaWAN · IoT · Smart Waste Management</a:t>
            </a:r>
            <a:endParaRPr sz="933">
              <a:solidFill>
                <a:schemeClr val="dk1"/>
              </a:solidFill>
              <a:latin typeface="Cadman" panose="020B08030202020200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F81EF643-A004-365C-04DB-4EF3C0F27A41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2" name="Google Shape;30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03" name="Google Shape;30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487015" y="547588"/>
            <a:ext cx="2927351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00C896"/>
              </a:buClr>
              <a:buSzPts val="700"/>
            </a:pPr>
            <a:r>
              <a:rPr lang="en-US" sz="9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IV. CONCLUSION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87015" y="852587"/>
            <a:ext cx="292735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2500"/>
            </a:pPr>
            <a:r>
              <a:rPr lang="en-US" sz="3333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Synthèse &amp;</a:t>
            </a:r>
            <a:endParaRPr sz="3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26000"/>
              </a:lnSpc>
              <a:buClr>
                <a:srgbClr val="00C896"/>
              </a:buClr>
              <a:buSzPts val="2500"/>
            </a:pPr>
            <a:r>
              <a:rPr lang="en-US" sz="33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Perspectives</a:t>
            </a:r>
            <a:endParaRPr sz="3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660" y="2125811"/>
            <a:ext cx="609600" cy="19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1"/>
          <p:cNvSpPr/>
          <p:nvPr/>
        </p:nvSpPr>
        <p:spPr>
          <a:xfrm>
            <a:off x="487015" y="2315915"/>
            <a:ext cx="2927351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000"/>
              </a:lnSpc>
              <a:buClr>
                <a:srgbClr val="FFFFFF"/>
              </a:buClr>
              <a:buSzPts val="900"/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 livrable constitue une base solide pour les étapes suivantes du développement du système.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343400" y="1065663"/>
            <a:ext cx="3505200" cy="2093168"/>
          </a:xfrm>
          <a:prstGeom prst="roundRect">
            <a:avLst>
              <a:gd name="adj" fmla="val 4644"/>
            </a:avLst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9" name="Google Shape;309;p11"/>
          <p:cNvSpPr/>
          <p:nvPr/>
        </p:nvSpPr>
        <p:spPr>
          <a:xfrm>
            <a:off x="4599236" y="1248820"/>
            <a:ext cx="488949" cy="488949"/>
          </a:xfrm>
          <a:prstGeom prst="roundRect">
            <a:avLst>
              <a:gd name="adj" fmla="val 1295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10" name="Google Shape;310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1822" y="1371406"/>
            <a:ext cx="243780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4600576" y="1840512"/>
            <a:ext cx="2990851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A2342"/>
              </a:buClr>
              <a:buSzPts val="1000"/>
            </a:pPr>
            <a:r>
              <a:rPr lang="en-US" sz="1333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Modélisation UML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600576" y="2169917"/>
            <a:ext cx="2990851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75500"/>
              </a:lnSpc>
              <a:buClr>
                <a:srgbClr val="6B7280"/>
              </a:buClr>
              <a:buSzPts val="800"/>
            </a:pPr>
            <a:r>
              <a:rPr lang="en-US" sz="106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Diagrammes de cas d'utilisation, de classes et de séquence offrant une vision claire des besoins fonctionnels et techniques.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153451" y="1065663"/>
            <a:ext cx="3505200" cy="2000251"/>
          </a:xfrm>
          <a:prstGeom prst="roundRect">
            <a:avLst>
              <a:gd name="adj" fmla="val 4644"/>
            </a:avLst>
          </a:prstGeom>
          <a:solidFill>
            <a:srgbClr val="EEF9F5"/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4" name="Google Shape;314;p11"/>
          <p:cNvSpPr/>
          <p:nvPr/>
        </p:nvSpPr>
        <p:spPr>
          <a:xfrm>
            <a:off x="8409236" y="1248820"/>
            <a:ext cx="488949" cy="488949"/>
          </a:xfrm>
          <a:prstGeom prst="roundRect">
            <a:avLst>
              <a:gd name="adj" fmla="val 1295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15" name="Google Shape;315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31822" y="1371406"/>
            <a:ext cx="243780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8410625" y="1840512"/>
            <a:ext cx="2990851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A2342"/>
              </a:buClr>
              <a:buSzPts val="1000"/>
            </a:pPr>
            <a:r>
              <a:rPr lang="en-US" sz="1333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Hardware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410625" y="2169917"/>
            <a:ext cx="2990851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75500"/>
              </a:lnSpc>
              <a:buClr>
                <a:srgbClr val="374151"/>
              </a:buClr>
              <a:buSzPts val="800"/>
            </a:pPr>
            <a:r>
              <a:rPr lang="en-US" sz="1067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Capteur EM310-UDL → LoRaWAN → Passerelle → Serveur/Cloud → Terminal utilisateur.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343400" y="3627811"/>
            <a:ext cx="3505200" cy="2522213"/>
          </a:xfrm>
          <a:prstGeom prst="roundRect">
            <a:avLst>
              <a:gd name="adj" fmla="val 4764"/>
            </a:avLst>
          </a:prstGeom>
          <a:solidFill>
            <a:srgbClr val="FFF8EB"/>
          </a:solidFill>
          <a:ln w="9525" cap="flat" cmpd="sng">
            <a:solidFill>
              <a:srgbClr val="F4A8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9" name="Google Shape;319;p11"/>
          <p:cNvSpPr/>
          <p:nvPr/>
        </p:nvSpPr>
        <p:spPr>
          <a:xfrm>
            <a:off x="4599236" y="3810968"/>
            <a:ext cx="488949" cy="488949"/>
          </a:xfrm>
          <a:prstGeom prst="roundRect">
            <a:avLst>
              <a:gd name="adj" fmla="val 12953"/>
            </a:avLst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20" name="Google Shape;320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1822" y="3933554"/>
            <a:ext cx="243780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4600576" y="4402661"/>
            <a:ext cx="2990851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A2342"/>
              </a:buClr>
              <a:buSzPts val="1000"/>
            </a:pPr>
            <a:r>
              <a:rPr lang="en-US" sz="1333" b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Software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600576" y="4730675"/>
            <a:ext cx="2990851" cy="127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594" indent="-228594">
              <a:lnSpc>
                <a:spcPct val="175500"/>
              </a:lnSpc>
              <a:buClr>
                <a:srgbClr val="374151"/>
              </a:buClr>
              <a:buSzPts val="800"/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5 couches : </a:t>
            </a:r>
            <a:r>
              <a:rPr lang="en-US" sz="1067" dirty="0" err="1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Présentation</a:t>
            </a: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· API/Backend · </a:t>
            </a:r>
            <a:r>
              <a:rPr lang="en-US" sz="1067" dirty="0" err="1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Logique</a:t>
            </a: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Métier · Données · IoT.</a:t>
            </a:r>
            <a:endParaRPr lang="en-US"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indent="-228594">
              <a:lnSpc>
                <a:spcPct val="175500"/>
              </a:lnSpc>
              <a:buClr>
                <a:srgbClr val="374151"/>
              </a:buClr>
              <a:buSzPts val="800"/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Simulation </a:t>
            </a:r>
            <a:r>
              <a:rPr lang="en-US" sz="1067" dirty="0" err="1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complète</a:t>
            </a: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via </a:t>
            </a:r>
            <a:r>
              <a:rPr lang="en-US" sz="1067" dirty="0" err="1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Wokwi</a:t>
            </a: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+ </a:t>
            </a:r>
            <a:r>
              <a:rPr lang="en-US" sz="1067" dirty="0" err="1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ThingSpeak</a:t>
            </a:r>
            <a:r>
              <a:rPr lang="en-US" sz="1067" dirty="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+ React</a:t>
            </a:r>
          </a:p>
        </p:txBody>
      </p:sp>
      <p:sp>
        <p:nvSpPr>
          <p:cNvPr id="323" name="Google Shape;323;p11"/>
          <p:cNvSpPr/>
          <p:nvPr/>
        </p:nvSpPr>
        <p:spPr>
          <a:xfrm>
            <a:off x="8153451" y="3627812"/>
            <a:ext cx="3505200" cy="1974849"/>
          </a:xfrm>
          <a:prstGeom prst="roundRect">
            <a:avLst>
              <a:gd name="adj" fmla="val 4764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4" name="Google Shape;324;p11"/>
          <p:cNvSpPr/>
          <p:nvPr/>
        </p:nvSpPr>
        <p:spPr>
          <a:xfrm>
            <a:off x="8396536" y="3798268"/>
            <a:ext cx="488949" cy="488949"/>
          </a:xfrm>
          <a:prstGeom prst="roundRect">
            <a:avLst>
              <a:gd name="adj" fmla="val 12953"/>
            </a:avLst>
          </a:prstGeom>
          <a:solidFill>
            <a:srgbClr val="00C896">
              <a:alpha val="20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25" name="Google Shape;32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9122" y="3920854"/>
            <a:ext cx="243780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8397926" y="4389961"/>
            <a:ext cx="3016249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0C896"/>
              </a:buClr>
              <a:buSzPts val="1000"/>
            </a:pPr>
            <a:r>
              <a:rPr lang="en-US" sz="1333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Perspectives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397926" y="4719365"/>
            <a:ext cx="3016249" cy="164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594" indent="-228594">
              <a:lnSpc>
                <a:spcPct val="175500"/>
              </a:lnSpc>
              <a:buClr>
                <a:srgbClr val="FFFFFF"/>
              </a:buClr>
              <a:buSzPts val="800"/>
              <a:buFont typeface="Arial" panose="020B0604020202020204" pitchFamily="34" charset="0"/>
              <a:buChar char="•"/>
            </a:pPr>
            <a:r>
              <a:rPr lang="fr-FR" sz="106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Base solide pour la réalisation technique et le déploiement dans un environnement réel (smart city / IoT).</a:t>
            </a:r>
            <a:endParaRPr lang="fr-FR"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indent="-228594">
              <a:lnSpc>
                <a:spcPct val="175500"/>
              </a:lnSpc>
              <a:buClr>
                <a:srgbClr val="FFFFFF"/>
              </a:buClr>
              <a:buSzPts val="800"/>
              <a:buFont typeface="Arial" panose="020B0604020202020204" pitchFamily="34" charset="0"/>
              <a:buChar char="•"/>
            </a:pPr>
            <a:r>
              <a:rPr lang="fr-FR" sz="106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Application mobile pour agents de collecte sur le terrain</a:t>
            </a:r>
          </a:p>
        </p:txBody>
      </p:sp>
      <p:pic>
        <p:nvPicPr>
          <p:cNvPr id="328" name="Google Shape;328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756C5D2F-91A6-C54F-8C0F-BA98E517DA53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35" name="Google Shape;33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9"/>
            <a:ext cx="12192000" cy="8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609998" y="344141"/>
            <a:ext cx="5403849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4285"/>
              </a:lnSpc>
              <a:buClr>
                <a:srgbClr val="FFFFFF"/>
              </a:buClr>
              <a:buSzPts val="2100"/>
            </a:pPr>
            <a:r>
              <a:rPr lang="en-US" sz="2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Bibliographie &amp; Webographie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1556" y="607665"/>
            <a:ext cx="730249" cy="190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608311" y="1164531"/>
            <a:ext cx="368300" cy="368300"/>
          </a:xfrm>
          <a:prstGeom prst="roundRect">
            <a:avLst>
              <a:gd name="adj" fmla="val 1712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39" name="Google Shape;339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981" y="1257202"/>
            <a:ext cx="182860" cy="18286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1096269" y="1183580"/>
            <a:ext cx="1517649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00C896"/>
              </a:buClr>
              <a:buSzPts val="1200"/>
            </a:pPr>
            <a:r>
              <a:rPr lang="en-US" sz="1600" b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Bibliographie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08063" y="1742529"/>
            <a:ext cx="77741" cy="83009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2" name="Google Shape;342;p12"/>
          <p:cNvSpPr/>
          <p:nvPr/>
        </p:nvSpPr>
        <p:spPr>
          <a:xfrm>
            <a:off x="805010" y="1701999"/>
            <a:ext cx="4457145" cy="22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8500"/>
              </a:lnSpc>
              <a:buClr>
                <a:srgbClr val="FFFFFF"/>
              </a:buClr>
              <a:buSzPts val="800"/>
            </a:pPr>
            <a:r>
              <a:rPr lang="en-US" sz="106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Kevin Ashton – That 'Internet of Things' Thing, RFID Journal, 2009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08063" y="2039689"/>
            <a:ext cx="77741" cy="83009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4" name="Google Shape;344;p12"/>
          <p:cNvSpPr/>
          <p:nvPr/>
        </p:nvSpPr>
        <p:spPr>
          <a:xfrm>
            <a:off x="804217" y="2001342"/>
            <a:ext cx="5150336" cy="43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8500"/>
              </a:lnSpc>
              <a:buClr>
                <a:srgbClr val="FFFFFF"/>
              </a:buClr>
              <a:buSzPts val="800"/>
            </a:pPr>
            <a:r>
              <a:rPr lang="en-US" sz="106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Dave Evans – The IoT: How the Next Evolution of the Internet Is Changing Everything, Cisco, 2011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08063" y="2538065"/>
            <a:ext cx="77741" cy="83009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6" name="Google Shape;346;p12"/>
          <p:cNvSpPr/>
          <p:nvPr/>
        </p:nvSpPr>
        <p:spPr>
          <a:xfrm>
            <a:off x="804217" y="2499718"/>
            <a:ext cx="5150336" cy="43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8500"/>
              </a:lnSpc>
              <a:buClr>
                <a:srgbClr val="FFFFFF"/>
              </a:buClr>
              <a:buSzPts val="800"/>
            </a:pPr>
            <a:r>
              <a:rPr lang="en-US" sz="106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H. </a:t>
            </a:r>
            <a:r>
              <a:rPr lang="en-US" sz="106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Sundmaeker</a:t>
            </a:r>
            <a:r>
              <a:rPr lang="en-US" sz="106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et al. – Vision and Challenges for </a:t>
            </a:r>
            <a:r>
              <a:rPr lang="en-US" sz="106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Realising</a:t>
            </a:r>
            <a:r>
              <a:rPr lang="en-US" sz="106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IoT, European Commission, 2010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08063" y="3036441"/>
            <a:ext cx="77741" cy="83009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8" name="Google Shape;348;p12"/>
          <p:cNvSpPr/>
          <p:nvPr/>
        </p:nvSpPr>
        <p:spPr>
          <a:xfrm>
            <a:off x="804217" y="2998094"/>
            <a:ext cx="5150336" cy="43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8500"/>
              </a:lnSpc>
              <a:buClr>
                <a:srgbClr val="FFFFFF"/>
              </a:buClr>
              <a:buSzPts val="800"/>
            </a:pPr>
            <a:r>
              <a:rPr lang="en-US" sz="106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Andrea Zanella et al. – Internet of Things for Smart Cities, IEEE IoT Journal, 2014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08063" y="3534817"/>
            <a:ext cx="77741" cy="83009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0" name="Google Shape;350;p12"/>
          <p:cNvSpPr/>
          <p:nvPr/>
        </p:nvSpPr>
        <p:spPr>
          <a:xfrm>
            <a:off x="805706" y="3494286"/>
            <a:ext cx="4010135" cy="22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8500"/>
              </a:lnSpc>
              <a:buClr>
                <a:srgbClr val="FFFFFF"/>
              </a:buClr>
              <a:buSzPts val="800"/>
            </a:pPr>
            <a:r>
              <a:rPr lang="en-US" sz="106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Taewoo Nam &amp; T. Pardo – Conceptualizing Smart City, 2011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338491" y="1164531"/>
            <a:ext cx="368300" cy="368300"/>
          </a:xfrm>
          <a:prstGeom prst="roundRect">
            <a:avLst>
              <a:gd name="adj" fmla="val 17122"/>
            </a:avLst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52" name="Google Shape;352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1162" y="1257202"/>
            <a:ext cx="182860" cy="1828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2"/>
          <p:cNvSpPr/>
          <p:nvPr/>
        </p:nvSpPr>
        <p:spPr>
          <a:xfrm>
            <a:off x="6827391" y="1183580"/>
            <a:ext cx="1543051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00"/>
              </a:lnSpc>
              <a:buClr>
                <a:srgbClr val="F4A823"/>
              </a:buClr>
              <a:buSzPts val="1200"/>
            </a:pPr>
            <a:r>
              <a:rPr lang="en-US" sz="1600" b="1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Webographie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338541" y="1703388"/>
            <a:ext cx="5518180" cy="565149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2"/>
          <p:cNvSpPr/>
          <p:nvPr/>
        </p:nvSpPr>
        <p:spPr>
          <a:xfrm>
            <a:off x="6527702" y="1954213"/>
            <a:ext cx="66807" cy="63500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6" name="Google Shape;356;p12"/>
          <p:cNvSpPr/>
          <p:nvPr/>
        </p:nvSpPr>
        <p:spPr>
          <a:xfrm>
            <a:off x="6736259" y="1771055"/>
            <a:ext cx="205762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Milesight IoT – EM310-UDL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737548" y="2006005"/>
            <a:ext cx="1970779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F4A823"/>
              </a:buClr>
              <a:buSzPts val="700"/>
            </a:pPr>
            <a:r>
              <a:rPr lang="en-US" sz="933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https://www.milesight-iot.com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338541" y="2351584"/>
            <a:ext cx="5518180" cy="565149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9" name="Google Shape;359;p12"/>
          <p:cNvSpPr/>
          <p:nvPr/>
        </p:nvSpPr>
        <p:spPr>
          <a:xfrm>
            <a:off x="6527702" y="2602409"/>
            <a:ext cx="66807" cy="63500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0" name="Google Shape;360;p12"/>
          <p:cNvSpPr/>
          <p:nvPr/>
        </p:nvSpPr>
        <p:spPr>
          <a:xfrm>
            <a:off x="6736853" y="2419251"/>
            <a:ext cx="19574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LoRa Alliance – LoRaWAN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737400" y="2654201"/>
            <a:ext cx="1523179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F4A823"/>
              </a:buClr>
              <a:buSzPts val="700"/>
            </a:pPr>
            <a:r>
              <a:rPr lang="en-US" sz="933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https://lora-alliance.org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338541" y="2999780"/>
            <a:ext cx="5518180" cy="565149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3" name="Google Shape;363;p12"/>
          <p:cNvSpPr/>
          <p:nvPr/>
        </p:nvSpPr>
        <p:spPr>
          <a:xfrm>
            <a:off x="6527702" y="3250606"/>
            <a:ext cx="66807" cy="63500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4" name="Google Shape;364;p12"/>
          <p:cNvSpPr/>
          <p:nvPr/>
        </p:nvSpPr>
        <p:spPr>
          <a:xfrm>
            <a:off x="6736853" y="3067447"/>
            <a:ext cx="29862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Things Network – IoT Open Source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737151" y="3302397"/>
            <a:ext cx="2197919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F4A823"/>
              </a:buClr>
              <a:buSzPts val="700"/>
            </a:pPr>
            <a:r>
              <a:rPr lang="en-US" sz="933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https://www.thethingsnetwork.org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338541" y="3647976"/>
            <a:ext cx="5518180" cy="565149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Google Shape;367;p12"/>
          <p:cNvSpPr/>
          <p:nvPr/>
        </p:nvSpPr>
        <p:spPr>
          <a:xfrm>
            <a:off x="6527702" y="3898802"/>
            <a:ext cx="66807" cy="63500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Google Shape;368;p12"/>
          <p:cNvSpPr/>
          <p:nvPr/>
        </p:nvSpPr>
        <p:spPr>
          <a:xfrm>
            <a:off x="6737599" y="3715643"/>
            <a:ext cx="19841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Cisco – Internet of Things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737698" y="3950593"/>
            <a:ext cx="14830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F4A823"/>
              </a:buClr>
              <a:buSzPts val="700"/>
            </a:pPr>
            <a:r>
              <a:rPr lang="en-US" sz="933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https://www.cisco.com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338541" y="4296172"/>
            <a:ext cx="5518180" cy="565149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71" name="Google Shape;371;p12"/>
          <p:cNvSpPr/>
          <p:nvPr/>
        </p:nvSpPr>
        <p:spPr>
          <a:xfrm>
            <a:off x="6527702" y="4546998"/>
            <a:ext cx="66807" cy="63500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72" name="Google Shape;372;p12"/>
          <p:cNvSpPr/>
          <p:nvPr/>
        </p:nvSpPr>
        <p:spPr>
          <a:xfrm>
            <a:off x="6735117" y="4363839"/>
            <a:ext cx="220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Nations Unies – Smart Cities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735564" y="4598789"/>
            <a:ext cx="1222552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9714"/>
              </a:lnSpc>
              <a:buClr>
                <a:srgbClr val="F4A823"/>
              </a:buClr>
              <a:buSzPts val="700"/>
            </a:pPr>
            <a:r>
              <a:rPr lang="en-US" sz="933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https://www.un.org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818413"/>
            <a:ext cx="1219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F4AEA666-1534-B897-F25D-9C7D84E1A9A5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</a:t>
            </a:r>
            <a:r>
              <a:rPr lang="en-US" sz="9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 sz="2400"/>
          </a:p>
        </p:txBody>
      </p:sp>
      <p:sp>
        <p:nvSpPr>
          <p:cNvPr id="3" name="Shape 1"/>
          <p:cNvSpPr/>
          <p:nvPr/>
        </p:nvSpPr>
        <p:spPr>
          <a:xfrm>
            <a:off x="-1219200" y="-1219200"/>
            <a:ext cx="4267200" cy="4267200"/>
          </a:xfrm>
          <a:prstGeom prst="ellipse">
            <a:avLst/>
          </a:prstGeom>
          <a:solidFill>
            <a:srgbClr val="00C896">
              <a:alpha val="7000"/>
            </a:srgbClr>
          </a:solidFill>
          <a:ln/>
        </p:spPr>
        <p:txBody>
          <a:bodyPr/>
          <a:lstStyle/>
          <a:p>
            <a:endParaRPr lang="fr-MA" sz="2400"/>
          </a:p>
        </p:txBody>
      </p:sp>
      <p:sp>
        <p:nvSpPr>
          <p:cNvPr id="4" name="Shape 2"/>
          <p:cNvSpPr/>
          <p:nvPr/>
        </p:nvSpPr>
        <p:spPr>
          <a:xfrm>
            <a:off x="9509720" y="4175720"/>
            <a:ext cx="3657600" cy="3657600"/>
          </a:xfrm>
          <a:prstGeom prst="ellipse">
            <a:avLst/>
          </a:prstGeom>
          <a:solidFill>
            <a:srgbClr val="F4A823">
              <a:alpha val="7000"/>
            </a:srgbClr>
          </a:solidFill>
          <a:ln/>
        </p:spPr>
        <p:txBody>
          <a:bodyPr/>
          <a:lstStyle/>
          <a:p>
            <a:endParaRPr lang="fr-MA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439"/>
            <a:ext cx="12192000" cy="50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915689"/>
            <a:ext cx="1219200" cy="1219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220489"/>
            <a:ext cx="609600" cy="609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79851" y="2373908"/>
            <a:ext cx="4432300" cy="203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584"/>
              </a:lnSpc>
              <a:spcAft>
                <a:spcPts val="809"/>
              </a:spcAft>
            </a:pPr>
            <a:r>
              <a:rPr lang="en-US" sz="93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 DE PRÉSENTATION</a:t>
            </a:r>
            <a:endParaRPr lang="en-US" sz="933" dirty="0"/>
          </a:p>
        </p:txBody>
      </p:sp>
      <p:sp>
        <p:nvSpPr>
          <p:cNvPr id="9" name="Text 4"/>
          <p:cNvSpPr/>
          <p:nvPr/>
        </p:nvSpPr>
        <p:spPr>
          <a:xfrm>
            <a:off x="3879851" y="2677617"/>
            <a:ext cx="4432300" cy="673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5280"/>
              </a:lnSpc>
            </a:pPr>
            <a:r>
              <a:rPr lang="en-US" sz="52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 pour</a:t>
            </a:r>
            <a:endParaRPr lang="en-US" sz="5200" dirty="0"/>
          </a:p>
        </p:txBody>
      </p:sp>
      <p:sp>
        <p:nvSpPr>
          <p:cNvPr id="10" name="Text 5"/>
          <p:cNvSpPr/>
          <p:nvPr/>
        </p:nvSpPr>
        <p:spPr>
          <a:xfrm>
            <a:off x="3879851" y="3348138"/>
            <a:ext cx="4432300" cy="673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5280"/>
              </a:lnSpc>
            </a:pPr>
            <a:r>
              <a:rPr lang="en-US" sz="52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écoute</a:t>
            </a:r>
            <a:endParaRPr lang="en-US" sz="5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7051" y="4259213"/>
            <a:ext cx="977900" cy="25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32401" y="4523234"/>
            <a:ext cx="927100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93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RÉALISÉ PAR</a:t>
            </a:r>
            <a:endParaRPr lang="en-US" sz="933" dirty="0"/>
          </a:p>
        </p:txBody>
      </p:sp>
      <p:sp>
        <p:nvSpPr>
          <p:cNvPr id="13" name="Text 7"/>
          <p:cNvSpPr/>
          <p:nvPr/>
        </p:nvSpPr>
        <p:spPr>
          <a:xfrm>
            <a:off x="3086051" y="4810870"/>
            <a:ext cx="6019800" cy="2349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872"/>
              </a:lnSpc>
            </a:pPr>
            <a:r>
              <a:rPr lang="en-US" sz="12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Saad </a:t>
            </a:r>
            <a:r>
              <a:rPr lang="en-US" sz="1200" b="1" dirty="0" err="1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Fettah</a:t>
            </a:r>
            <a:r>
              <a:rPr lang="en-US" sz="12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|  Boubker Cheyoukh  |  Abderrazzak </a:t>
            </a:r>
            <a:r>
              <a:rPr lang="en-US" sz="1200" b="1" dirty="0" err="1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Elatmani</a:t>
            </a:r>
            <a:r>
              <a:rPr lang="en-US" sz="12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|  Mehdi Salek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451" y="5148957"/>
            <a:ext cx="2667000" cy="203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584"/>
              </a:lnSpc>
            </a:pPr>
            <a:r>
              <a:rPr lang="en-US" sz="933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Encadré par </a:t>
            </a:r>
            <a:r>
              <a:rPr lang="en-US" sz="933" b="1" dirty="0">
                <a:solidFill>
                  <a:srgbClr val="F4A8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Bouhadou</a:t>
            </a:r>
            <a:r>
              <a:rPr lang="en-US" sz="933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r>
              <a:rPr lang="en-US" sz="933" b="1" dirty="0">
                <a:solidFill>
                  <a:srgbClr val="FFC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M.GILCHRIS</a:t>
            </a:r>
            <a:endParaRPr lang="en-US" sz="933" b="1" dirty="0">
              <a:solidFill>
                <a:srgbClr val="FFC000"/>
              </a:solidFill>
            </a:endParaRPr>
          </a:p>
          <a:p>
            <a:pPr algn="ctr">
              <a:lnSpc>
                <a:spcPts val="1584"/>
              </a:lnSpc>
            </a:pPr>
            <a:endParaRPr lang="en-US" sz="933" dirty="0"/>
          </a:p>
        </p:txBody>
      </p:sp>
      <p:sp>
        <p:nvSpPr>
          <p:cNvPr id="15" name="Shape 9"/>
          <p:cNvSpPr/>
          <p:nvPr/>
        </p:nvSpPr>
        <p:spPr>
          <a:xfrm>
            <a:off x="3314651" y="5592069"/>
            <a:ext cx="5562600" cy="349249"/>
          </a:xfrm>
          <a:prstGeom prst="roundRect">
            <a:avLst>
              <a:gd name="adj" fmla="val 25388"/>
            </a:avLst>
          </a:prstGeom>
          <a:solidFill>
            <a:srgbClr val="F8FAFC"/>
          </a:solidFill>
          <a:ln w="476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MA" sz="2400"/>
          </a:p>
        </p:txBody>
      </p:sp>
      <p:sp>
        <p:nvSpPr>
          <p:cNvPr id="16" name="Text 10"/>
          <p:cNvSpPr/>
          <p:nvPr/>
        </p:nvSpPr>
        <p:spPr>
          <a:xfrm>
            <a:off x="3686125" y="5665093"/>
            <a:ext cx="4819651" cy="203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584"/>
              </a:lnSpc>
            </a:pPr>
            <a:r>
              <a:rPr lang="en-US" sz="933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Système Intelligent de Gestion des Poubelles · LoRaWAN · HESTIM 2025–2026</a:t>
            </a:r>
            <a:endParaRPr lang="en-US" sz="933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825010"/>
            <a:ext cx="12192000" cy="31749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14C27498-51EC-E35D-7B69-B3E75958FBCC}"/>
              </a:ext>
            </a:extLst>
          </p:cNvPr>
          <p:cNvSpPr/>
          <p:nvPr/>
        </p:nvSpPr>
        <p:spPr>
          <a:xfrm>
            <a:off x="11490225" y="6466841"/>
            <a:ext cx="656055" cy="23960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>
              <a:lnSpc>
                <a:spcPts val="1512"/>
              </a:lnSpc>
            </a:pPr>
            <a:r>
              <a:rPr lang="en-US" sz="933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 </a:t>
            </a:r>
            <a:r>
              <a:rPr lang="en-US" sz="933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/24</a:t>
            </a:r>
            <a:endParaRPr lang="en-US" sz="9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Grand écran</PresentationFormat>
  <Paragraphs>287</Paragraphs>
  <Slides>24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5" baseType="lpstr">
      <vt:lpstr>MS Gothic</vt:lpstr>
      <vt:lpstr>Aptos</vt:lpstr>
      <vt:lpstr>Aptos Display</vt:lpstr>
      <vt:lpstr>Arial</vt:lpstr>
      <vt:lpstr>Cadman</vt:lpstr>
      <vt:lpstr>Calibri</vt:lpstr>
      <vt:lpstr>DM Sans</vt:lpstr>
      <vt:lpstr>Plus Jakarta Sans</vt:lpstr>
      <vt:lpstr>Poppins</vt:lpstr>
      <vt:lpstr>Segoe UI Emoji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PROBLÉMATIQUE</vt:lpstr>
      <vt:lpstr>OBJECTIFS DU 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Intégration IoT – ThingSpeak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boubker cheyoukh</dc:creator>
  <cp:lastModifiedBy>boubker cheyoukh</cp:lastModifiedBy>
  <cp:revision>19</cp:revision>
  <dcterms:created xsi:type="dcterms:W3CDTF">2026-04-19T18:28:24Z</dcterms:created>
  <dcterms:modified xsi:type="dcterms:W3CDTF">2026-04-21T00:13:33Z</dcterms:modified>
</cp:coreProperties>
</file>